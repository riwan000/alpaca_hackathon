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4" d="100"/>
          <a:sy n="104" d="100"/>
        </p:scale>
        <p:origin x="284" y="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43072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judges and investors. Today we present AEGIS: the Autonomous Adaptive Portfolio Hedge Agent. Our mission is simple: transform a live Alpaca equity portfolio into a self-protecting financial asset. Unlike standard bots that blindly trade or guess market direction, AEGIS is a closed-loop institutional risk engine that combines multi-agent strategic reasoning with deterministic quantitative risk controls.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 establishes the core financial problem. Static hedging either bleeds your returns dry through constant put decay, or it fails to adapt when volatility regimes switch. Worst of all, most systems have no concept of de-hedging — when the market rebounds, they leave the puts on and watch their protection expire worthless while capping upside. AEGIS solves all three flaws.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core logic loop. AEGIS continuously asks these 5 questions. Notice Q5: this is the crown jewel. Most trading bots only open positions. AEGIS actively manages the complete lifecycle, asking whether an existing hedge should be increased, decreased, rolled, or completely removed when the storm passes.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single most important slide for judges evaluating safety and robustness. We adhere strictly to: Agents reason. Tools provide. Deterministic code enforces. Never let an LLM do financial math. LLMs reason about trade-offs and market narratives; deterministic Python code computes Black-Scholes Greeks, VaR, and enforces hard risk bounds.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breaks down our LangGraph state machine. Notice how we solve context dilution. Rather than dumping raw web text and raw price ticks into an LLM prompt, our 5 Ingestion Agents distill the data into a clean, typed HedgeContext contract. Every downstream agent operates on verified facts.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strategy arena. Instead of forcing one fixed strategy, we run a competition. Notice the 4th agent: No-Hedge Discipline. This is crucial: an autonomous trading agent must have the discipline to recommend 'DO NOTHING' if protection is overpriced or unnecessary. The Strategy Manager compares all viable proposals using an 8-dimensional scoring matrix.</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Judges love seeing risk management that works in practice. The Risk Gate is the non-negotiable filter. Even if the Strategy Manager chooses a brilliant spread, if it exceeds our 2.5% premium cap, it is either resized or vetoed. On execution, we use Alpaca's multi-leg capability so spreads fill atomically, avoiding asymmetric legging risk.</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secret sauce of AEGIS: the 2-tier monitoring loop. Tier 1 handles high-frequency noise using deadbands and cooldowns so we don't overtrade. Tier 2 executes full reassessments. And when conditions improve, AEGIS executes DECREASE. It actively sells or closes hedges, capturing the option gain and eliminating theta drag.</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our user interface. Built with an institutional FT Luxury Editorial aesthetic: clean botanical palette, crisp razor-sharp cards, and tabular monospace fonts that never jitter. A judge or wealth manager can immediately see: What is happening, what hedge is active, how the payoff curve looks, and the exact chronological audit trail of agent reasoning.</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During live hackathon demos, reproducibility is everything. We built a dedicated demo replay script (demo_replay.py) that seeds the exact 8-scene golden narrative. Scene 1 through Scene 8 demonstrates the full journey: from baseline calm, to market shock, to put spread fill, and crucially to Scene 8: where the agent autonomously dials the hedge back down as the market recovers.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11 demonstrates production engineering standards. Notice the dual LLM provider layer: we can toggle seamlessly between OpenRouter during testing and Featherless AI for evaluation and submission. The database is PostgreSQL with Alembic migrations, and the entire system is tested with phased automated test suites.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conclude: AEGIS directly fulfills all 4 hackathon scoring criteria: Alpaca Technology, P&amp;L performance, agentic originality, and engineering execution. Beyond the hackathon, AEGIS lays the technical groundwork for a real-world institutional SaaS protecting high-net-worth portfolios. Thank you, and we welcome your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271D"/>
          </a:solidFill>
          <a:ln>
            <a:solidFill>
              <a:srgbClr val="0F271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097280" y="914400"/>
            <a:ext cx="9997135" cy="45720"/>
          </a:xfrm>
          <a:prstGeom prst="rect">
            <a:avLst/>
          </a:prstGeom>
          <a:solidFill>
            <a:srgbClr val="A67C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097280" y="1280160"/>
            <a:ext cx="2926080" cy="365760"/>
          </a:xfrm>
          <a:prstGeom prst="rect">
            <a:avLst/>
          </a:prstGeom>
          <a:solidFill>
            <a:srgbClr val="275642"/>
          </a:solidFill>
          <a:ln w="12700">
            <a:solidFill>
              <a:srgbClr val="A67C3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D4AF67"/>
                </a:solidFill>
                <a:latin typeface="Consolas"/>
              </a:defRPr>
            </a:pPr>
            <a:r>
              <a:t>ALPACA HACKATHON 2026 SUBMISSION</a:t>
            </a:r>
          </a:p>
        </p:txBody>
      </p:sp>
      <p:sp>
        <p:nvSpPr>
          <p:cNvPr id="5" name="TextBox 4"/>
          <p:cNvSpPr txBox="1"/>
          <p:nvPr/>
        </p:nvSpPr>
        <p:spPr>
          <a:xfrm>
            <a:off x="1097280" y="1920240"/>
            <a:ext cx="9966960" cy="1371600"/>
          </a:xfrm>
          <a:prstGeom prst="rect">
            <a:avLst/>
          </a:prstGeom>
          <a:noFill/>
        </p:spPr>
        <p:txBody>
          <a:bodyPr wrap="square">
            <a:spAutoFit/>
          </a:bodyPr>
          <a:lstStyle/>
          <a:p>
            <a:pPr>
              <a:defRPr sz="4600" b="1">
                <a:solidFill>
                  <a:srgbClr val="FFFFFF"/>
                </a:solidFill>
                <a:latin typeface="Georgia"/>
              </a:defRPr>
            </a:pPr>
            <a:r>
              <a:t>AEGIS // PRIVATE WEALTH</a:t>
            </a:r>
          </a:p>
          <a:p>
            <a:pPr>
              <a:spcBef>
                <a:spcPts val="800"/>
              </a:spcBef>
              <a:defRPr sz="2600">
                <a:solidFill>
                  <a:srgbClr val="D4AF67"/>
                </a:solidFill>
                <a:latin typeface="Georgia"/>
              </a:defRPr>
            </a:pPr>
            <a:r>
              <a:t>Autonomous Adaptive Portfolio Hedge Agent</a:t>
            </a:r>
          </a:p>
        </p:txBody>
      </p:sp>
      <p:sp>
        <p:nvSpPr>
          <p:cNvPr id="6" name="TextBox 5"/>
          <p:cNvSpPr txBox="1"/>
          <p:nvPr/>
        </p:nvSpPr>
        <p:spPr>
          <a:xfrm>
            <a:off x="1097280" y="3749039"/>
            <a:ext cx="9966960" cy="1097280"/>
          </a:xfrm>
          <a:prstGeom prst="rect">
            <a:avLst/>
          </a:prstGeom>
          <a:noFill/>
        </p:spPr>
        <p:txBody>
          <a:bodyPr wrap="square">
            <a:spAutoFit/>
          </a:bodyPr>
          <a:lstStyle/>
          <a:p>
            <a:pPr>
              <a:defRPr sz="1500">
                <a:solidFill>
                  <a:srgbClr val="D2DFD8"/>
                </a:solidFill>
                <a:latin typeface="Segoe UI"/>
              </a:defRPr>
            </a:pPr>
            <a:r>
              <a:t>A closed-loop multi-agent risk engine that transforms live Alpaca portfolios into self-protecting assets. Evaluates competing options hedges, enforces deterministic risk gates, executes multi-leg orders, and dynamically rebalances as market regimes shift.</a:t>
            </a:r>
          </a:p>
        </p:txBody>
      </p:sp>
      <p:sp>
        <p:nvSpPr>
          <p:cNvPr id="7" name="Rectangle 6"/>
          <p:cNvSpPr/>
          <p:nvPr/>
        </p:nvSpPr>
        <p:spPr>
          <a:xfrm>
            <a:off x="1097280" y="5120640"/>
            <a:ext cx="3108960" cy="1005840"/>
          </a:xfrm>
          <a:prstGeom prst="rect">
            <a:avLst/>
          </a:prstGeom>
          <a:solidFill>
            <a:srgbClr val="153628"/>
          </a:solidFill>
          <a:ln w="12700">
            <a:solidFill>
              <a:srgbClr val="35624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D4AF67"/>
                </a:solidFill>
                <a:latin typeface="Consolas"/>
              </a:defRPr>
            </a:pPr>
            <a:r>
              <a:t>MULTI-AGENT REASONING</a:t>
            </a:r>
          </a:p>
          <a:p>
            <a:pPr>
              <a:spcBef>
                <a:spcPts val="400"/>
              </a:spcBef>
              <a:defRPr sz="1100">
                <a:solidFill>
                  <a:srgbClr val="FFFFFF"/>
                </a:solidFill>
                <a:latin typeface="Segoe UI"/>
              </a:defRPr>
            </a:pPr>
            <a:r>
              <a:t>LangGraph DAG + LLM Tournament</a:t>
            </a:r>
          </a:p>
        </p:txBody>
      </p:sp>
      <p:sp>
        <p:nvSpPr>
          <p:cNvPr id="8" name="Rectangle 7"/>
          <p:cNvSpPr/>
          <p:nvPr/>
        </p:nvSpPr>
        <p:spPr>
          <a:xfrm>
            <a:off x="4535424" y="5120640"/>
            <a:ext cx="3108960" cy="1005840"/>
          </a:xfrm>
          <a:prstGeom prst="rect">
            <a:avLst/>
          </a:prstGeom>
          <a:solidFill>
            <a:srgbClr val="153628"/>
          </a:solidFill>
          <a:ln w="12700">
            <a:solidFill>
              <a:srgbClr val="35624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D4AF67"/>
                </a:solidFill>
                <a:latin typeface="Consolas"/>
              </a:defRPr>
            </a:pPr>
            <a:r>
              <a:t>DETERMINISTIC RISK GATE</a:t>
            </a:r>
          </a:p>
          <a:p>
            <a:pPr>
              <a:spcBef>
                <a:spcPts val="400"/>
              </a:spcBef>
              <a:defRPr sz="1100">
                <a:solidFill>
                  <a:srgbClr val="FFFFFF"/>
                </a:solidFill>
                <a:latin typeface="Segoe UI"/>
              </a:defRPr>
            </a:pPr>
            <a:r>
              <a:t>Zero Hallucinations • Hard Quant Math</a:t>
            </a:r>
          </a:p>
        </p:txBody>
      </p:sp>
      <p:sp>
        <p:nvSpPr>
          <p:cNvPr id="9" name="Rectangle 8"/>
          <p:cNvSpPr/>
          <p:nvPr/>
        </p:nvSpPr>
        <p:spPr>
          <a:xfrm>
            <a:off x="7973567" y="5120640"/>
            <a:ext cx="3108960" cy="1005840"/>
          </a:xfrm>
          <a:prstGeom prst="rect">
            <a:avLst/>
          </a:prstGeom>
          <a:solidFill>
            <a:srgbClr val="153628"/>
          </a:solidFill>
          <a:ln w="12700">
            <a:solidFill>
              <a:srgbClr val="35624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D4AF67"/>
                </a:solidFill>
                <a:latin typeface="Consolas"/>
              </a:defRPr>
            </a:pPr>
            <a:r>
              <a:t>CLOSED-LOOP ADAPTATION</a:t>
            </a:r>
          </a:p>
          <a:p>
            <a:pPr>
              <a:spcBef>
                <a:spcPts val="400"/>
              </a:spcBef>
              <a:defRPr sz="1100">
                <a:solidFill>
                  <a:srgbClr val="FFFFFF"/>
                </a:solidFill>
                <a:latin typeface="Segoe UI"/>
              </a:defRPr>
            </a:pPr>
            <a:r>
              <a:t>Level-1 Drift &amp; Level-2 De-Hedging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5"/>
          </a:solidFill>
          <a:ln>
            <a:solidFill>
              <a:srgbClr val="F4F7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65760"/>
            <a:ext cx="10728655" cy="36576"/>
          </a:xfrm>
          <a:prstGeom prst="rect">
            <a:avLst/>
          </a:prstGeom>
          <a:solidFill>
            <a:srgbClr val="A67C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502920"/>
            <a:ext cx="7315200" cy="320040"/>
          </a:xfrm>
          <a:prstGeom prst="rect">
            <a:avLst/>
          </a:prstGeom>
          <a:noFill/>
        </p:spPr>
        <p:txBody>
          <a:bodyPr wrap="square" lIns="0" tIns="0" rIns="0" bIns="0">
            <a:spAutoFit/>
          </a:bodyPr>
          <a:lstStyle/>
          <a:p>
            <a:pPr>
              <a:defRPr sz="1000" b="1">
                <a:solidFill>
                  <a:srgbClr val="A67C37"/>
                </a:solidFill>
                <a:latin typeface="Consolas"/>
              </a:defRPr>
            </a:pPr>
            <a:r>
              <a:t>PROBLEM STATEMENT</a:t>
            </a:r>
          </a:p>
        </p:txBody>
      </p:sp>
      <p:sp>
        <p:nvSpPr>
          <p:cNvPr id="5" name="TextBox 4"/>
          <p:cNvSpPr txBox="1"/>
          <p:nvPr/>
        </p:nvSpPr>
        <p:spPr>
          <a:xfrm>
            <a:off x="731520" y="777240"/>
            <a:ext cx="9144000" cy="594360"/>
          </a:xfrm>
          <a:prstGeom prst="rect">
            <a:avLst/>
          </a:prstGeom>
          <a:noFill/>
        </p:spPr>
        <p:txBody>
          <a:bodyPr wrap="square" lIns="0" tIns="0" rIns="0" bIns="0">
            <a:spAutoFit/>
          </a:bodyPr>
          <a:lstStyle/>
          <a:p>
            <a:pPr>
              <a:defRPr sz="2400" b="1">
                <a:solidFill>
                  <a:srgbClr val="1B4332"/>
                </a:solidFill>
                <a:latin typeface="Georgia"/>
              </a:defRPr>
            </a:pPr>
            <a:r>
              <a:t>Traditional Portfolio Hedging is Broken</a:t>
            </a:r>
          </a:p>
        </p:txBody>
      </p:sp>
      <p:sp>
        <p:nvSpPr>
          <p:cNvPr id="6" name="TextBox 5"/>
          <p:cNvSpPr txBox="1"/>
          <p:nvPr/>
        </p:nvSpPr>
        <p:spPr>
          <a:xfrm>
            <a:off x="731520" y="1353312"/>
            <a:ext cx="10698480" cy="320040"/>
          </a:xfrm>
          <a:prstGeom prst="rect">
            <a:avLst/>
          </a:prstGeom>
          <a:noFill/>
        </p:spPr>
        <p:txBody>
          <a:bodyPr wrap="square" lIns="0" tIns="0" rIns="0" bIns="0">
            <a:spAutoFit/>
          </a:bodyPr>
          <a:lstStyle/>
          <a:p>
            <a:pPr>
              <a:defRPr sz="1200">
                <a:solidFill>
                  <a:srgbClr val="52665C"/>
                </a:solidFill>
                <a:latin typeface="Segoe UI"/>
              </a:defRPr>
            </a:pPr>
            <a:r>
              <a:t>Why static, manual, and heuristic-based hedging strategies consistently destroy portfolio alpha.</a:t>
            </a:r>
          </a:p>
        </p:txBody>
      </p:sp>
      <p:sp>
        <p:nvSpPr>
          <p:cNvPr id="7" name="Rectangle 6"/>
          <p:cNvSpPr/>
          <p:nvPr/>
        </p:nvSpPr>
        <p:spPr>
          <a:xfrm>
            <a:off x="731520" y="1783080"/>
            <a:ext cx="3328416" cy="3931920"/>
          </a:xfrm>
          <a:prstGeom prst="rect">
            <a:avLst/>
          </a:prstGeom>
          <a:solidFill>
            <a:srgbClr val="FFFFFF"/>
          </a:solidFill>
          <a:ln w="12700">
            <a:solidFill>
              <a:srgbClr val="CCD8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783080"/>
            <a:ext cx="3328416" cy="36576"/>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1920240"/>
            <a:ext cx="2962656" cy="3657600"/>
          </a:xfrm>
          <a:prstGeom prst="rect">
            <a:avLst/>
          </a:prstGeom>
          <a:noFill/>
        </p:spPr>
        <p:txBody>
          <a:bodyPr wrap="square" lIns="0" tIns="0" rIns="0" bIns="0">
            <a:spAutoFit/>
          </a:bodyPr>
          <a:lstStyle/>
          <a:p>
            <a:pPr>
              <a:defRPr sz="2000" b="1">
                <a:solidFill>
                  <a:srgbClr val="BE123C"/>
                </a:solidFill>
                <a:latin typeface="Consolas"/>
              </a:defRPr>
            </a:pPr>
            <a:r>
              <a:t>01</a:t>
            </a:r>
          </a:p>
          <a:p>
            <a:pPr>
              <a:spcBef>
                <a:spcPts val="400"/>
              </a:spcBef>
              <a:defRPr sz="1600" b="1">
                <a:solidFill>
                  <a:srgbClr val="1B4332"/>
                </a:solidFill>
                <a:latin typeface="Georgia"/>
              </a:defRPr>
            </a:pPr>
            <a:r>
              <a:t>Naive Heuristics &amp; Blind Rules</a:t>
            </a:r>
          </a:p>
          <a:p>
            <a:pPr>
              <a:spcBef>
                <a:spcPts val="600"/>
              </a:spcBef>
              <a:defRPr sz="1100">
                <a:solidFill>
                  <a:srgbClr val="52665C"/>
                </a:solidFill>
                <a:latin typeface="Segoe UI"/>
              </a:defRPr>
            </a:pPr>
            <a:r>
              <a:t>Common industry rules like 'If down 10%, buy puts' fail completely in real markets.</a:t>
            </a:r>
          </a:p>
          <a:p>
            <a:pPr>
              <a:spcBef>
                <a:spcPts val="400"/>
              </a:spcBef>
              <a:defRPr sz="1100">
                <a:solidFill>
                  <a:srgbClr val="0E1713"/>
                </a:solidFill>
                <a:latin typeface="Segoe UI"/>
              </a:defRPr>
            </a:pPr>
            <a:r>
              <a:t>• Ignores market regime and why the asset is dropping</a:t>
            </a:r>
          </a:p>
          <a:p>
            <a:pPr>
              <a:spcBef>
                <a:spcPts val="400"/>
              </a:spcBef>
              <a:defRPr sz="1100">
                <a:solidFill>
                  <a:srgbClr val="0E1713"/>
                </a:solidFill>
                <a:latin typeface="Segoe UI"/>
              </a:defRPr>
            </a:pPr>
            <a:r>
              <a:t>• Blind to implied volatility (IV) inflation and skew</a:t>
            </a:r>
          </a:p>
          <a:p>
            <a:pPr>
              <a:spcBef>
                <a:spcPts val="400"/>
              </a:spcBef>
              <a:defRPr sz="1100">
                <a:solidFill>
                  <a:srgbClr val="0E1713"/>
                </a:solidFill>
                <a:latin typeface="Segoe UI"/>
              </a:defRPr>
            </a:pPr>
            <a:r>
              <a:t>• Buys overpriced protection at the market bottom</a:t>
            </a:r>
          </a:p>
          <a:p>
            <a:pPr>
              <a:spcBef>
                <a:spcPts val="400"/>
              </a:spcBef>
              <a:defRPr sz="1100">
                <a:solidFill>
                  <a:srgbClr val="0E1713"/>
                </a:solidFill>
                <a:latin typeface="Segoe UI"/>
              </a:defRPr>
            </a:pPr>
            <a:r>
              <a:t>• Zero awareness of sector basis risk vs systemic shock</a:t>
            </a:r>
          </a:p>
        </p:txBody>
      </p:sp>
      <p:sp>
        <p:nvSpPr>
          <p:cNvPr id="10" name="Rectangle 9"/>
          <p:cNvSpPr/>
          <p:nvPr/>
        </p:nvSpPr>
        <p:spPr>
          <a:xfrm>
            <a:off x="4425696" y="1783080"/>
            <a:ext cx="3328416" cy="3931920"/>
          </a:xfrm>
          <a:prstGeom prst="rect">
            <a:avLst/>
          </a:prstGeom>
          <a:solidFill>
            <a:srgbClr val="FFFFFF"/>
          </a:solidFill>
          <a:ln w="12700">
            <a:solidFill>
              <a:srgbClr val="CCD8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425696" y="1783080"/>
            <a:ext cx="3328416" cy="36576"/>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08576" y="1920240"/>
            <a:ext cx="2962656" cy="3657600"/>
          </a:xfrm>
          <a:prstGeom prst="rect">
            <a:avLst/>
          </a:prstGeom>
          <a:noFill/>
        </p:spPr>
        <p:txBody>
          <a:bodyPr wrap="square" lIns="0" tIns="0" rIns="0" bIns="0">
            <a:spAutoFit/>
          </a:bodyPr>
          <a:lstStyle/>
          <a:p>
            <a:pPr>
              <a:defRPr sz="2000" b="1">
                <a:solidFill>
                  <a:srgbClr val="BE123C"/>
                </a:solidFill>
                <a:latin typeface="Consolas"/>
              </a:defRPr>
            </a:pPr>
            <a:r>
              <a:t>02</a:t>
            </a:r>
          </a:p>
          <a:p>
            <a:pPr>
              <a:spcBef>
                <a:spcPts val="400"/>
              </a:spcBef>
              <a:defRPr sz="1600" b="1">
                <a:solidFill>
                  <a:srgbClr val="1B4332"/>
                </a:solidFill>
                <a:latin typeface="Georgia"/>
              </a:defRPr>
            </a:pPr>
            <a:r>
              <a:t>Excessive Carry Cost &amp; Alpha Drag</a:t>
            </a:r>
          </a:p>
          <a:p>
            <a:pPr>
              <a:spcBef>
                <a:spcPts val="600"/>
              </a:spcBef>
              <a:defRPr sz="1100">
                <a:solidFill>
                  <a:srgbClr val="52665C"/>
                </a:solidFill>
                <a:latin typeface="Segoe UI"/>
              </a:defRPr>
            </a:pPr>
            <a:r>
              <a:t>Passive long puts act as a relentless tax on long-term compound performance.</a:t>
            </a:r>
          </a:p>
          <a:p>
            <a:pPr>
              <a:spcBef>
                <a:spcPts val="400"/>
              </a:spcBef>
              <a:defRPr sz="1100">
                <a:solidFill>
                  <a:srgbClr val="0E1713"/>
                </a:solidFill>
                <a:latin typeface="Segoe UI"/>
              </a:defRPr>
            </a:pPr>
            <a:r>
              <a:t>• Bleeds 5% to 9% annualized alpha through theta decay</a:t>
            </a:r>
          </a:p>
          <a:p>
            <a:pPr>
              <a:spcBef>
                <a:spcPts val="400"/>
              </a:spcBef>
              <a:defRPr sz="1100">
                <a:solidFill>
                  <a:srgbClr val="0E1713"/>
                </a:solidFill>
                <a:latin typeface="Segoe UI"/>
              </a:defRPr>
            </a:pPr>
            <a:r>
              <a:t>• Unfunded single-leg puts suffer severe time decay</a:t>
            </a:r>
          </a:p>
          <a:p>
            <a:pPr>
              <a:spcBef>
                <a:spcPts val="400"/>
              </a:spcBef>
              <a:defRPr sz="1100">
                <a:solidFill>
                  <a:srgbClr val="0E1713"/>
                </a:solidFill>
                <a:latin typeface="Segoe UI"/>
              </a:defRPr>
            </a:pPr>
            <a:r>
              <a:t>• Fails to leverage spreads or collars to offset premium</a:t>
            </a:r>
          </a:p>
          <a:p>
            <a:pPr>
              <a:spcBef>
                <a:spcPts val="400"/>
              </a:spcBef>
              <a:defRPr sz="1100">
                <a:solidFill>
                  <a:srgbClr val="0E1713"/>
                </a:solidFill>
                <a:latin typeface="Segoe UI"/>
              </a:defRPr>
            </a:pPr>
            <a:r>
              <a:t>• Investors abandon protection just before crises occur</a:t>
            </a:r>
          </a:p>
        </p:txBody>
      </p:sp>
      <p:sp>
        <p:nvSpPr>
          <p:cNvPr id="13" name="Rectangle 12"/>
          <p:cNvSpPr/>
          <p:nvPr/>
        </p:nvSpPr>
        <p:spPr>
          <a:xfrm>
            <a:off x="8119872" y="1783080"/>
            <a:ext cx="3328416" cy="3931920"/>
          </a:xfrm>
          <a:prstGeom prst="rect">
            <a:avLst/>
          </a:prstGeom>
          <a:solidFill>
            <a:srgbClr val="FFFFFF"/>
          </a:solidFill>
          <a:ln w="12700">
            <a:solidFill>
              <a:srgbClr val="CCD8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119872" y="1783080"/>
            <a:ext cx="3328416" cy="36576"/>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02752" y="1920240"/>
            <a:ext cx="2962656" cy="3657600"/>
          </a:xfrm>
          <a:prstGeom prst="rect">
            <a:avLst/>
          </a:prstGeom>
          <a:noFill/>
        </p:spPr>
        <p:txBody>
          <a:bodyPr wrap="square" lIns="0" tIns="0" rIns="0" bIns="0">
            <a:spAutoFit/>
          </a:bodyPr>
          <a:lstStyle/>
          <a:p>
            <a:pPr>
              <a:defRPr sz="2000" b="1">
                <a:solidFill>
                  <a:srgbClr val="BE123C"/>
                </a:solidFill>
                <a:latin typeface="Consolas"/>
              </a:defRPr>
            </a:pPr>
            <a:r>
              <a:t>03</a:t>
            </a:r>
          </a:p>
          <a:p>
            <a:pPr>
              <a:spcBef>
                <a:spcPts val="400"/>
              </a:spcBef>
              <a:defRPr sz="1600" b="1">
                <a:solidFill>
                  <a:srgbClr val="1B4332"/>
                </a:solidFill>
                <a:latin typeface="Georgia"/>
              </a:defRPr>
            </a:pPr>
            <a:r>
              <a:t>The Unsolved 'Exit Problem'</a:t>
            </a:r>
          </a:p>
          <a:p>
            <a:pPr>
              <a:spcBef>
                <a:spcPts val="600"/>
              </a:spcBef>
              <a:defRPr sz="1100">
                <a:solidFill>
                  <a:srgbClr val="52665C"/>
                </a:solidFill>
                <a:latin typeface="Segoe UI"/>
              </a:defRPr>
            </a:pPr>
            <a:r>
              <a:t>Traditional managers know when to buy protection, but never when to dismantle it.</a:t>
            </a:r>
          </a:p>
          <a:p>
            <a:pPr>
              <a:spcBef>
                <a:spcPts val="400"/>
              </a:spcBef>
              <a:defRPr sz="1100">
                <a:solidFill>
                  <a:srgbClr val="0E1713"/>
                </a:solidFill>
                <a:latin typeface="Segoe UI"/>
              </a:defRPr>
            </a:pPr>
            <a:r>
              <a:t>• Hedges are left on as markets recover, killing upside</a:t>
            </a:r>
          </a:p>
          <a:p>
            <a:pPr>
              <a:spcBef>
                <a:spcPts val="400"/>
              </a:spcBef>
              <a:defRPr sz="1100">
                <a:solidFill>
                  <a:srgbClr val="0E1713"/>
                </a:solidFill>
                <a:latin typeface="Segoe UI"/>
              </a:defRPr>
            </a:pPr>
            <a:r>
              <a:t>• Manual adjustment is lagged, emotional, and slow</a:t>
            </a:r>
          </a:p>
          <a:p>
            <a:pPr>
              <a:spcBef>
                <a:spcPts val="400"/>
              </a:spcBef>
              <a:defRPr sz="1100">
                <a:solidFill>
                  <a:srgbClr val="0E1713"/>
                </a:solidFill>
                <a:latin typeface="Segoe UI"/>
              </a:defRPr>
            </a:pPr>
            <a:r>
              <a:t>• Legging risk: partial fills during multi-leg rebalancing</a:t>
            </a:r>
          </a:p>
          <a:p>
            <a:pPr>
              <a:spcBef>
                <a:spcPts val="400"/>
              </a:spcBef>
              <a:defRPr sz="1100">
                <a:solidFill>
                  <a:srgbClr val="0E1713"/>
                </a:solidFill>
                <a:latin typeface="Segoe UI"/>
              </a:defRPr>
            </a:pPr>
            <a:r>
              <a:t>• No automated feedback loop to harvest option profits</a:t>
            </a:r>
          </a:p>
        </p:txBody>
      </p:sp>
      <p:sp>
        <p:nvSpPr>
          <p:cNvPr id="16" name="Rectangle 15"/>
          <p:cNvSpPr/>
          <p:nvPr/>
        </p:nvSpPr>
        <p:spPr>
          <a:xfrm>
            <a:off x="731520" y="5852160"/>
            <a:ext cx="10728655" cy="594360"/>
          </a:xfrm>
          <a:prstGeom prst="rect">
            <a:avLst/>
          </a:prstGeom>
          <a:solidFill>
            <a:srgbClr val="EAF1EE"/>
          </a:solidFill>
          <a:ln w="12700">
            <a:solidFill>
              <a:srgbClr val="CCD8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14400" y="5897880"/>
            <a:ext cx="10332720" cy="502920"/>
          </a:xfrm>
          <a:prstGeom prst="rect">
            <a:avLst/>
          </a:prstGeom>
          <a:noFill/>
        </p:spPr>
        <p:txBody>
          <a:bodyPr wrap="square">
            <a:spAutoFit/>
          </a:bodyPr>
          <a:lstStyle/>
          <a:p>
            <a:pPr>
              <a:defRPr sz="1100" b="1">
                <a:solidFill>
                  <a:srgbClr val="1B4332"/>
                </a:solidFill>
                <a:latin typeface="Consolas"/>
              </a:defRPr>
            </a:pPr>
            <a:r>
              <a:t>CORE TAKEAWAY: Portfolios do not need static rules or speculative predictions — they need continuous, adaptive risk management that actively dials protection up AND down.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5"/>
          </a:solidFill>
          <a:ln>
            <a:solidFill>
              <a:srgbClr val="F4F7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65760"/>
            <a:ext cx="10728655" cy="36576"/>
          </a:xfrm>
          <a:prstGeom prst="rect">
            <a:avLst/>
          </a:prstGeom>
          <a:solidFill>
            <a:srgbClr val="A67C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502920"/>
            <a:ext cx="7315200" cy="320040"/>
          </a:xfrm>
          <a:prstGeom prst="rect">
            <a:avLst/>
          </a:prstGeom>
          <a:noFill/>
        </p:spPr>
        <p:txBody>
          <a:bodyPr wrap="square" lIns="0" tIns="0" rIns="0" bIns="0">
            <a:spAutoFit/>
          </a:bodyPr>
          <a:lstStyle/>
          <a:p>
            <a:pPr>
              <a:defRPr sz="1000" b="1">
                <a:solidFill>
                  <a:srgbClr val="A67C37"/>
                </a:solidFill>
                <a:latin typeface="Consolas"/>
              </a:defRPr>
            </a:pPr>
            <a:r>
              <a:t>SYSTEM OBJECTIVE</a:t>
            </a:r>
          </a:p>
        </p:txBody>
      </p:sp>
      <p:sp>
        <p:nvSpPr>
          <p:cNvPr id="5" name="TextBox 4"/>
          <p:cNvSpPr txBox="1"/>
          <p:nvPr/>
        </p:nvSpPr>
        <p:spPr>
          <a:xfrm>
            <a:off x="731520" y="777240"/>
            <a:ext cx="9144000" cy="594360"/>
          </a:xfrm>
          <a:prstGeom prst="rect">
            <a:avLst/>
          </a:prstGeom>
          <a:noFill/>
        </p:spPr>
        <p:txBody>
          <a:bodyPr wrap="square" lIns="0" tIns="0" rIns="0" bIns="0">
            <a:spAutoFit/>
          </a:bodyPr>
          <a:lstStyle/>
          <a:p>
            <a:pPr>
              <a:defRPr sz="2400" b="1">
                <a:solidFill>
                  <a:srgbClr val="1B4332"/>
                </a:solidFill>
                <a:latin typeface="Georgia"/>
              </a:defRPr>
            </a:pPr>
            <a:r>
              <a:t>The Solution: Continuous Closed-Loop Defense</a:t>
            </a:r>
          </a:p>
        </p:txBody>
      </p:sp>
      <p:sp>
        <p:nvSpPr>
          <p:cNvPr id="6" name="TextBox 5"/>
          <p:cNvSpPr txBox="1"/>
          <p:nvPr/>
        </p:nvSpPr>
        <p:spPr>
          <a:xfrm>
            <a:off x="731520" y="1353312"/>
            <a:ext cx="10698480" cy="320040"/>
          </a:xfrm>
          <a:prstGeom prst="rect">
            <a:avLst/>
          </a:prstGeom>
          <a:noFill/>
        </p:spPr>
        <p:txBody>
          <a:bodyPr wrap="square" lIns="0" tIns="0" rIns="0" bIns="0">
            <a:spAutoFit/>
          </a:bodyPr>
          <a:lstStyle/>
          <a:p>
            <a:pPr>
              <a:defRPr sz="1200">
                <a:solidFill>
                  <a:srgbClr val="52665C"/>
                </a:solidFill>
                <a:latin typeface="Segoe UI"/>
              </a:defRPr>
            </a:pPr>
            <a:r>
              <a:t>AEGIS operates as an autonomous risk engine that continuously answers 5 foundational questions.</a:t>
            </a:r>
          </a:p>
        </p:txBody>
      </p:sp>
      <p:sp>
        <p:nvSpPr>
          <p:cNvPr id="7" name="Rectangle 6"/>
          <p:cNvSpPr/>
          <p:nvPr/>
        </p:nvSpPr>
        <p:spPr>
          <a:xfrm>
            <a:off x="731520" y="1783080"/>
            <a:ext cx="1993392" cy="3931920"/>
          </a:xfrm>
          <a:prstGeom prst="rect">
            <a:avLst/>
          </a:prstGeom>
          <a:solidFill>
            <a:srgbClr val="FFFFFF"/>
          </a:solidFill>
          <a:ln w="12700">
            <a:solidFill>
              <a:srgbClr val="CCD8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783080"/>
            <a:ext cx="1993392" cy="36576"/>
          </a:xfrm>
          <a:prstGeom prst="rect">
            <a:avLst/>
          </a:prstGeom>
          <a:solidFill>
            <a:srgbClr val="A67C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1920240"/>
            <a:ext cx="1719072" cy="3657600"/>
          </a:xfrm>
          <a:prstGeom prst="rect">
            <a:avLst/>
          </a:prstGeom>
          <a:noFill/>
        </p:spPr>
        <p:txBody>
          <a:bodyPr wrap="square" lIns="0" tIns="0" rIns="0" bIns="0">
            <a:spAutoFit/>
          </a:bodyPr>
          <a:lstStyle/>
          <a:p>
            <a:pPr>
              <a:defRPr sz="2400" b="1">
                <a:solidFill>
                  <a:srgbClr val="A67C37"/>
                </a:solidFill>
                <a:latin typeface="Consolas"/>
              </a:defRPr>
            </a:pPr>
            <a:r>
              <a:t>Q1</a:t>
            </a:r>
          </a:p>
          <a:p>
            <a:pPr>
              <a:spcBef>
                <a:spcPts val="400"/>
              </a:spcBef>
              <a:defRPr sz="1500" b="1">
                <a:solidFill>
                  <a:srgbClr val="1B4332"/>
                </a:solidFill>
                <a:latin typeface="Georgia"/>
              </a:defRPr>
            </a:pPr>
            <a:r>
              <a:t>Risk Detection</a:t>
            </a:r>
          </a:p>
          <a:p>
            <a:pPr>
              <a:spcBef>
                <a:spcPts val="600"/>
              </a:spcBef>
              <a:defRPr sz="1100" b="1">
                <a:solidFill>
                  <a:srgbClr val="0E1713"/>
                </a:solidFill>
                <a:latin typeface="Segoe UI"/>
              </a:defRPr>
            </a:pPr>
            <a:r>
              <a:t>What specific risks exist?</a:t>
            </a:r>
          </a:p>
          <a:p>
            <a:pPr>
              <a:spcBef>
                <a:spcPts val="800"/>
              </a:spcBef>
              <a:defRPr sz="1100">
                <a:solidFill>
                  <a:srgbClr val="52665C"/>
                </a:solidFill>
                <a:latin typeface="Segoe UI"/>
              </a:defRPr>
            </a:pPr>
            <a:r>
              <a:t>Audits portfolio beta, factor concentration, drawdown, and macro market volatility shocks in real time.</a:t>
            </a:r>
          </a:p>
        </p:txBody>
      </p:sp>
      <p:sp>
        <p:nvSpPr>
          <p:cNvPr id="10" name="Rectangle 9"/>
          <p:cNvSpPr/>
          <p:nvPr/>
        </p:nvSpPr>
        <p:spPr>
          <a:xfrm>
            <a:off x="2907792" y="1783080"/>
            <a:ext cx="1993392" cy="3931920"/>
          </a:xfrm>
          <a:prstGeom prst="rect">
            <a:avLst/>
          </a:prstGeom>
          <a:solidFill>
            <a:srgbClr val="FFFFFF"/>
          </a:solidFill>
          <a:ln w="12700">
            <a:solidFill>
              <a:srgbClr val="CCD8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907792" y="1783080"/>
            <a:ext cx="1993392" cy="36576"/>
          </a:xfrm>
          <a:prstGeom prst="rect">
            <a:avLst/>
          </a:prstGeom>
          <a:solidFill>
            <a:srgbClr val="A67C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044952" y="1920240"/>
            <a:ext cx="1719072" cy="3657600"/>
          </a:xfrm>
          <a:prstGeom prst="rect">
            <a:avLst/>
          </a:prstGeom>
          <a:noFill/>
        </p:spPr>
        <p:txBody>
          <a:bodyPr wrap="square" lIns="0" tIns="0" rIns="0" bIns="0">
            <a:spAutoFit/>
          </a:bodyPr>
          <a:lstStyle/>
          <a:p>
            <a:pPr>
              <a:defRPr sz="2400" b="1">
                <a:solidFill>
                  <a:srgbClr val="A67C37"/>
                </a:solidFill>
                <a:latin typeface="Consolas"/>
              </a:defRPr>
            </a:pPr>
            <a:r>
              <a:t>Q2</a:t>
            </a:r>
          </a:p>
          <a:p>
            <a:pPr>
              <a:spcBef>
                <a:spcPts val="400"/>
              </a:spcBef>
              <a:defRPr sz="1500" b="1">
                <a:solidFill>
                  <a:srgbClr val="1B4332"/>
                </a:solidFill>
                <a:latin typeface="Georgia"/>
              </a:defRPr>
            </a:pPr>
            <a:r>
              <a:t>Protection Sizing</a:t>
            </a:r>
          </a:p>
          <a:p>
            <a:pPr>
              <a:spcBef>
                <a:spcPts val="600"/>
              </a:spcBef>
              <a:defRPr sz="1100" b="1">
                <a:solidFill>
                  <a:srgbClr val="0E1713"/>
                </a:solidFill>
                <a:latin typeface="Segoe UI"/>
              </a:defRPr>
            </a:pPr>
            <a:r>
              <a:t>How much protection is needed?</a:t>
            </a:r>
          </a:p>
          <a:p>
            <a:pPr>
              <a:spcBef>
                <a:spcPts val="800"/>
              </a:spcBef>
              <a:defRPr sz="1100">
                <a:solidFill>
                  <a:srgbClr val="52665C"/>
                </a:solidFill>
                <a:latin typeface="Segoe UI"/>
              </a:defRPr>
            </a:pPr>
            <a:r>
              <a:t>Calculates exact mathematical hedge ratios using Black-Scholes Greeks, Cornish-Fisher VaR, and budget limits.</a:t>
            </a:r>
          </a:p>
        </p:txBody>
      </p:sp>
      <p:sp>
        <p:nvSpPr>
          <p:cNvPr id="13" name="Rectangle 12"/>
          <p:cNvSpPr/>
          <p:nvPr/>
        </p:nvSpPr>
        <p:spPr>
          <a:xfrm>
            <a:off x="5084064" y="1783080"/>
            <a:ext cx="1993392" cy="3931920"/>
          </a:xfrm>
          <a:prstGeom prst="rect">
            <a:avLst/>
          </a:prstGeom>
          <a:solidFill>
            <a:srgbClr val="FFFFFF"/>
          </a:solidFill>
          <a:ln w="12700">
            <a:solidFill>
              <a:srgbClr val="CCD8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084064" y="1783080"/>
            <a:ext cx="1993392" cy="36576"/>
          </a:xfrm>
          <a:prstGeom prst="rect">
            <a:avLst/>
          </a:prstGeom>
          <a:solidFill>
            <a:srgbClr val="A67C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221224" y="1920240"/>
            <a:ext cx="1719072" cy="3657600"/>
          </a:xfrm>
          <a:prstGeom prst="rect">
            <a:avLst/>
          </a:prstGeom>
          <a:noFill/>
        </p:spPr>
        <p:txBody>
          <a:bodyPr wrap="square" lIns="0" tIns="0" rIns="0" bIns="0">
            <a:spAutoFit/>
          </a:bodyPr>
          <a:lstStyle/>
          <a:p>
            <a:pPr>
              <a:defRPr sz="2400" b="1">
                <a:solidFill>
                  <a:srgbClr val="A67C37"/>
                </a:solidFill>
                <a:latin typeface="Consolas"/>
              </a:defRPr>
            </a:pPr>
            <a:r>
              <a:t>Q3</a:t>
            </a:r>
          </a:p>
          <a:p>
            <a:pPr>
              <a:spcBef>
                <a:spcPts val="400"/>
              </a:spcBef>
              <a:defRPr sz="1500" b="1">
                <a:solidFill>
                  <a:srgbClr val="1B4332"/>
                </a:solidFill>
                <a:latin typeface="Georgia"/>
              </a:defRPr>
            </a:pPr>
            <a:r>
              <a:t>Option Discovery</a:t>
            </a:r>
          </a:p>
          <a:p>
            <a:pPr>
              <a:spcBef>
                <a:spcPts val="600"/>
              </a:spcBef>
              <a:defRPr sz="1100" b="1">
                <a:solidFill>
                  <a:srgbClr val="0E1713"/>
                </a:solidFill>
                <a:latin typeface="Segoe UI"/>
              </a:defRPr>
            </a:pPr>
            <a:r>
              <a:t>Which structures are viable?</a:t>
            </a:r>
          </a:p>
          <a:p>
            <a:pPr>
              <a:spcBef>
                <a:spcPts val="800"/>
              </a:spcBef>
              <a:defRPr sz="1100">
                <a:solidFill>
                  <a:srgbClr val="52665C"/>
                </a:solidFill>
                <a:latin typeface="Segoe UI"/>
              </a:defRPr>
            </a:pPr>
            <a:r>
              <a:t>Screens Alpaca option chains across strike, expiration, liquidity, IV skew, and multi-leg feasibility.</a:t>
            </a:r>
          </a:p>
        </p:txBody>
      </p:sp>
      <p:sp>
        <p:nvSpPr>
          <p:cNvPr id="16" name="Rectangle 15"/>
          <p:cNvSpPr/>
          <p:nvPr/>
        </p:nvSpPr>
        <p:spPr>
          <a:xfrm>
            <a:off x="7260336" y="1783080"/>
            <a:ext cx="1993392" cy="3931920"/>
          </a:xfrm>
          <a:prstGeom prst="rect">
            <a:avLst/>
          </a:prstGeom>
          <a:solidFill>
            <a:srgbClr val="FFFFFF"/>
          </a:solidFill>
          <a:ln w="12700">
            <a:solidFill>
              <a:srgbClr val="CCD8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260336" y="1783080"/>
            <a:ext cx="1993392" cy="36576"/>
          </a:xfrm>
          <a:prstGeom prst="rect">
            <a:avLst/>
          </a:prstGeom>
          <a:solidFill>
            <a:srgbClr val="A67C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97496" y="1920240"/>
            <a:ext cx="1719072" cy="3657600"/>
          </a:xfrm>
          <a:prstGeom prst="rect">
            <a:avLst/>
          </a:prstGeom>
          <a:noFill/>
        </p:spPr>
        <p:txBody>
          <a:bodyPr wrap="square" lIns="0" tIns="0" rIns="0" bIns="0">
            <a:spAutoFit/>
          </a:bodyPr>
          <a:lstStyle/>
          <a:p>
            <a:pPr>
              <a:defRPr sz="2400" b="1">
                <a:solidFill>
                  <a:srgbClr val="A67C37"/>
                </a:solidFill>
                <a:latin typeface="Consolas"/>
              </a:defRPr>
            </a:pPr>
            <a:r>
              <a:t>Q4</a:t>
            </a:r>
          </a:p>
          <a:p>
            <a:pPr>
              <a:spcBef>
                <a:spcPts val="400"/>
              </a:spcBef>
              <a:defRPr sz="1500" b="1">
                <a:solidFill>
                  <a:srgbClr val="1B4332"/>
                </a:solidFill>
                <a:latin typeface="Georgia"/>
              </a:defRPr>
            </a:pPr>
            <a:r>
              <a:t>Strategy Tournament</a:t>
            </a:r>
          </a:p>
          <a:p>
            <a:pPr>
              <a:spcBef>
                <a:spcPts val="600"/>
              </a:spcBef>
              <a:defRPr sz="1100" b="1">
                <a:solidFill>
                  <a:srgbClr val="0E1713"/>
                </a:solidFill>
                <a:latin typeface="Segoe UI"/>
              </a:defRPr>
            </a:pPr>
            <a:r>
              <a:t>Which trade-off is optimal?</a:t>
            </a:r>
          </a:p>
          <a:p>
            <a:pPr>
              <a:spcBef>
                <a:spcPts val="800"/>
              </a:spcBef>
              <a:defRPr sz="1100">
                <a:solidFill>
                  <a:srgbClr val="52665C"/>
                </a:solidFill>
                <a:latin typeface="Segoe UI"/>
              </a:defRPr>
            </a:pPr>
            <a:r>
              <a:t>Compares 4 competing strategy hypotheses across 8 quantitative dimensions to select the best fit.</a:t>
            </a:r>
          </a:p>
        </p:txBody>
      </p:sp>
      <p:sp>
        <p:nvSpPr>
          <p:cNvPr id="19" name="Rectangle 18"/>
          <p:cNvSpPr/>
          <p:nvPr/>
        </p:nvSpPr>
        <p:spPr>
          <a:xfrm>
            <a:off x="9436608" y="1783080"/>
            <a:ext cx="1993392" cy="3931920"/>
          </a:xfrm>
          <a:prstGeom prst="rect">
            <a:avLst/>
          </a:prstGeom>
          <a:solidFill>
            <a:srgbClr val="FFFFFF"/>
          </a:solidFill>
          <a:ln w="12700">
            <a:solidFill>
              <a:srgbClr val="CCD8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9436608" y="1783080"/>
            <a:ext cx="1993392" cy="36576"/>
          </a:xfrm>
          <a:prstGeom prst="rect">
            <a:avLst/>
          </a:prstGeom>
          <a:solidFill>
            <a:srgbClr val="A67C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573768" y="1920240"/>
            <a:ext cx="1719072" cy="3657600"/>
          </a:xfrm>
          <a:prstGeom prst="rect">
            <a:avLst/>
          </a:prstGeom>
          <a:noFill/>
        </p:spPr>
        <p:txBody>
          <a:bodyPr wrap="square" lIns="0" tIns="0" rIns="0" bIns="0">
            <a:spAutoFit/>
          </a:bodyPr>
          <a:lstStyle/>
          <a:p>
            <a:pPr>
              <a:defRPr sz="2400" b="1">
                <a:solidFill>
                  <a:srgbClr val="A67C37"/>
                </a:solidFill>
                <a:latin typeface="Consolas"/>
              </a:defRPr>
            </a:pPr>
            <a:r>
              <a:t>Q5</a:t>
            </a:r>
          </a:p>
          <a:p>
            <a:pPr>
              <a:spcBef>
                <a:spcPts val="400"/>
              </a:spcBef>
              <a:defRPr sz="1500" b="1">
                <a:solidFill>
                  <a:srgbClr val="1B4332"/>
                </a:solidFill>
                <a:latin typeface="Georgia"/>
              </a:defRPr>
            </a:pPr>
            <a:r>
              <a:t>Adaptive Lifecycle</a:t>
            </a:r>
          </a:p>
          <a:p>
            <a:pPr>
              <a:spcBef>
                <a:spcPts val="600"/>
              </a:spcBef>
              <a:defRPr sz="1100" b="1">
                <a:solidFill>
                  <a:srgbClr val="0E1713"/>
                </a:solidFill>
                <a:latin typeface="Segoe UI"/>
              </a:defRPr>
            </a:pPr>
            <a:r>
              <a:t>Should we adjust or remove?</a:t>
            </a:r>
          </a:p>
          <a:p>
            <a:pPr>
              <a:spcBef>
                <a:spcPts val="800"/>
              </a:spcBef>
              <a:defRPr sz="1100">
                <a:solidFill>
                  <a:srgbClr val="52665C"/>
                </a:solidFill>
                <a:latin typeface="Segoe UI"/>
              </a:defRPr>
            </a:pPr>
            <a:r>
              <a:t>Continuously monitors hedge drift and market stabilization to increase, reduce, roll, or dismantle protection.</a:t>
            </a:r>
          </a:p>
        </p:txBody>
      </p:sp>
      <p:sp>
        <p:nvSpPr>
          <p:cNvPr id="22" name="Rectangle 21"/>
          <p:cNvSpPr/>
          <p:nvPr/>
        </p:nvSpPr>
        <p:spPr>
          <a:xfrm>
            <a:off x="731520" y="5852160"/>
            <a:ext cx="10728655" cy="594360"/>
          </a:xfrm>
          <a:prstGeom prst="rect">
            <a:avLst/>
          </a:prstGeom>
          <a:solidFill>
            <a:srgbClr val="1B4332"/>
          </a:solidFill>
          <a:ln w="12700">
            <a:solidFill>
              <a:srgbClr val="CCD8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14400" y="5897880"/>
            <a:ext cx="10332720" cy="502920"/>
          </a:xfrm>
          <a:prstGeom prst="rect">
            <a:avLst/>
          </a:prstGeom>
          <a:noFill/>
        </p:spPr>
        <p:txBody>
          <a:bodyPr wrap="square">
            <a:spAutoFit/>
          </a:bodyPr>
          <a:lstStyle/>
          <a:p>
            <a:pPr>
              <a:defRPr sz="1100" b="1">
                <a:solidFill>
                  <a:srgbClr val="FFFFFF"/>
                </a:solidFill>
                <a:latin typeface="Consolas"/>
              </a:defRPr>
            </a:pPr>
            <a:r>
              <a:t>THE NORTH STAR: We do not predict market tops or bottoms. We continuously measure risk and dynamically adapt protection.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5"/>
          </a:solidFill>
          <a:ln>
            <a:solidFill>
              <a:srgbClr val="F4F7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65760"/>
            <a:ext cx="10728655" cy="36576"/>
          </a:xfrm>
          <a:prstGeom prst="rect">
            <a:avLst/>
          </a:prstGeom>
          <a:solidFill>
            <a:srgbClr val="A67C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502920"/>
            <a:ext cx="7315200" cy="320040"/>
          </a:xfrm>
          <a:prstGeom prst="rect">
            <a:avLst/>
          </a:prstGeom>
          <a:noFill/>
        </p:spPr>
        <p:txBody>
          <a:bodyPr wrap="square" lIns="0" tIns="0" rIns="0" bIns="0">
            <a:spAutoFit/>
          </a:bodyPr>
          <a:lstStyle/>
          <a:p>
            <a:pPr>
              <a:defRPr sz="1000" b="1">
                <a:solidFill>
                  <a:srgbClr val="A67C37"/>
                </a:solidFill>
                <a:latin typeface="Consolas"/>
              </a:defRPr>
            </a:pPr>
            <a:r>
              <a:t>SYSTEM DESIGN LAW</a:t>
            </a:r>
          </a:p>
        </p:txBody>
      </p:sp>
      <p:sp>
        <p:nvSpPr>
          <p:cNvPr id="5" name="TextBox 4"/>
          <p:cNvSpPr txBox="1"/>
          <p:nvPr/>
        </p:nvSpPr>
        <p:spPr>
          <a:xfrm>
            <a:off x="731520" y="777240"/>
            <a:ext cx="9144000" cy="594360"/>
          </a:xfrm>
          <a:prstGeom prst="rect">
            <a:avLst/>
          </a:prstGeom>
          <a:noFill/>
        </p:spPr>
        <p:txBody>
          <a:bodyPr wrap="square" lIns="0" tIns="0" rIns="0" bIns="0">
            <a:spAutoFit/>
          </a:bodyPr>
          <a:lstStyle/>
          <a:p>
            <a:pPr>
              <a:defRPr sz="2400" b="1">
                <a:solidFill>
                  <a:srgbClr val="1B4332"/>
                </a:solidFill>
                <a:latin typeface="Georgia"/>
              </a:defRPr>
            </a:pPr>
            <a:r>
              <a:t>Agents Reason. Tools Provide. Deterministic Code Enforces.</a:t>
            </a:r>
          </a:p>
        </p:txBody>
      </p:sp>
      <p:sp>
        <p:nvSpPr>
          <p:cNvPr id="6" name="TextBox 5"/>
          <p:cNvSpPr txBox="1"/>
          <p:nvPr/>
        </p:nvSpPr>
        <p:spPr>
          <a:xfrm>
            <a:off x="731520" y="1490533"/>
            <a:ext cx="10698480" cy="320040"/>
          </a:xfrm>
          <a:prstGeom prst="rect">
            <a:avLst/>
          </a:prstGeom>
          <a:noFill/>
        </p:spPr>
        <p:txBody>
          <a:bodyPr wrap="square" lIns="0" tIns="0" rIns="0" bIns="0">
            <a:spAutoFit/>
          </a:bodyPr>
          <a:lstStyle/>
          <a:p>
            <a:pPr>
              <a:defRPr sz="1200">
                <a:solidFill>
                  <a:srgbClr val="52665C"/>
                </a:solidFill>
                <a:latin typeface="Segoe UI"/>
              </a:defRPr>
            </a:pPr>
            <a:r>
              <a:rPr dirty="0"/>
              <a:t>Strict separation of concerns: LLMs provide qualitative judgment; pure Python math provides absolute safety.</a:t>
            </a:r>
          </a:p>
        </p:txBody>
      </p:sp>
      <p:sp>
        <p:nvSpPr>
          <p:cNvPr id="7" name="Rectangle 6"/>
          <p:cNvSpPr/>
          <p:nvPr/>
        </p:nvSpPr>
        <p:spPr>
          <a:xfrm>
            <a:off x="731520" y="1783080"/>
            <a:ext cx="3328416" cy="3931920"/>
          </a:xfrm>
          <a:prstGeom prst="rect">
            <a:avLst/>
          </a:prstGeom>
          <a:solidFill>
            <a:srgbClr val="FFFFFF"/>
          </a:solidFill>
          <a:ln w="12700">
            <a:solidFill>
              <a:srgbClr val="CCD8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783080"/>
            <a:ext cx="3328416" cy="36576"/>
          </a:xfrm>
          <a:prstGeom prst="rect">
            <a:avLst/>
          </a:prstGeom>
          <a:solidFill>
            <a:srgbClr val="1B4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1920240"/>
            <a:ext cx="2962656" cy="3657600"/>
          </a:xfrm>
          <a:prstGeom prst="rect">
            <a:avLst/>
          </a:prstGeom>
          <a:noFill/>
        </p:spPr>
        <p:txBody>
          <a:bodyPr wrap="square" lIns="0" tIns="0" rIns="0" bIns="0">
            <a:spAutoFit/>
          </a:bodyPr>
          <a:lstStyle/>
          <a:p>
            <a:pPr>
              <a:defRPr sz="1300" b="1">
                <a:solidFill>
                  <a:srgbClr val="1B4332"/>
                </a:solidFill>
                <a:latin typeface="Consolas"/>
              </a:defRPr>
            </a:pPr>
            <a:r>
              <a:t>AGENTS REASON</a:t>
            </a:r>
          </a:p>
          <a:p>
            <a:pPr>
              <a:spcBef>
                <a:spcPts val="400"/>
              </a:spcBef>
              <a:defRPr sz="1500" b="1">
                <a:solidFill>
                  <a:srgbClr val="1B4332"/>
                </a:solidFill>
                <a:latin typeface="Georgia"/>
              </a:defRPr>
            </a:pPr>
            <a:r>
              <a:t>LLM Contextual Reasoning Layer</a:t>
            </a:r>
          </a:p>
          <a:p>
            <a:pPr>
              <a:spcBef>
                <a:spcPts val="600"/>
              </a:spcBef>
              <a:defRPr sz="1100">
                <a:solidFill>
                  <a:srgbClr val="0E1713"/>
                </a:solidFill>
                <a:latin typeface="Segoe UI"/>
              </a:defRPr>
            </a:pPr>
            <a:r>
              <a:t>• Analyzes macroeconomic market regimes</a:t>
            </a:r>
          </a:p>
          <a:p>
            <a:pPr>
              <a:spcBef>
                <a:spcPts val="600"/>
              </a:spcBef>
              <a:defRPr sz="1100">
                <a:solidFill>
                  <a:srgbClr val="0E1713"/>
                </a:solidFill>
                <a:latin typeface="Segoe UI"/>
              </a:defRPr>
            </a:pPr>
            <a:r>
              <a:t>• Evaluates qualitative trade-offs between hedge candidates</a:t>
            </a:r>
          </a:p>
          <a:p>
            <a:pPr>
              <a:spcBef>
                <a:spcPts val="600"/>
              </a:spcBef>
              <a:defRPr sz="1100">
                <a:solidFill>
                  <a:srgbClr val="0E1713"/>
                </a:solidFill>
                <a:latin typeface="Segoe UI"/>
              </a:defRPr>
            </a:pPr>
            <a:r>
              <a:t>• Synthesizes breaking news sentiment &amp; shock events</a:t>
            </a:r>
          </a:p>
          <a:p>
            <a:pPr>
              <a:spcBef>
                <a:spcPts val="600"/>
              </a:spcBef>
              <a:defRPr sz="1100">
                <a:solidFill>
                  <a:srgbClr val="0E1713"/>
                </a:solidFill>
                <a:latin typeface="Segoe UI"/>
              </a:defRPr>
            </a:pPr>
            <a:r>
              <a:t>• Formulates strategic hypotheses with plain-English rationales</a:t>
            </a:r>
          </a:p>
          <a:p>
            <a:pPr>
              <a:spcBef>
                <a:spcPts val="600"/>
              </a:spcBef>
              <a:defRPr sz="1100">
                <a:solidFill>
                  <a:srgbClr val="0E1713"/>
                </a:solidFill>
                <a:latin typeface="Segoe UI"/>
              </a:defRPr>
            </a:pPr>
            <a:r>
              <a:t>• Dual-provider: Featherless AI (Submission) &amp; OpenRouter (Dev)</a:t>
            </a:r>
          </a:p>
        </p:txBody>
      </p:sp>
      <p:sp>
        <p:nvSpPr>
          <p:cNvPr id="10" name="Rectangle 9"/>
          <p:cNvSpPr/>
          <p:nvPr/>
        </p:nvSpPr>
        <p:spPr>
          <a:xfrm>
            <a:off x="4425696" y="1783080"/>
            <a:ext cx="3328416" cy="3931920"/>
          </a:xfrm>
          <a:prstGeom prst="rect">
            <a:avLst/>
          </a:prstGeom>
          <a:solidFill>
            <a:srgbClr val="FFFFFF"/>
          </a:solidFill>
          <a:ln w="12700">
            <a:solidFill>
              <a:srgbClr val="CCD8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425696" y="1783080"/>
            <a:ext cx="3328416" cy="36576"/>
          </a:xfrm>
          <a:prstGeom prst="rect">
            <a:avLst/>
          </a:prstGeom>
          <a:solidFill>
            <a:srgbClr val="A67C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08576" y="1920240"/>
            <a:ext cx="2962656" cy="3657600"/>
          </a:xfrm>
          <a:prstGeom prst="rect">
            <a:avLst/>
          </a:prstGeom>
          <a:noFill/>
        </p:spPr>
        <p:txBody>
          <a:bodyPr wrap="square" lIns="0" tIns="0" rIns="0" bIns="0">
            <a:spAutoFit/>
          </a:bodyPr>
          <a:lstStyle/>
          <a:p>
            <a:pPr>
              <a:defRPr sz="1300" b="1">
                <a:solidFill>
                  <a:srgbClr val="A67C37"/>
                </a:solidFill>
                <a:latin typeface="Consolas"/>
              </a:defRPr>
            </a:pPr>
            <a:r>
              <a:t>TOOLS PROVIDE</a:t>
            </a:r>
          </a:p>
          <a:p>
            <a:pPr>
              <a:spcBef>
                <a:spcPts val="400"/>
              </a:spcBef>
              <a:defRPr sz="1500" b="1">
                <a:solidFill>
                  <a:srgbClr val="1B4332"/>
                </a:solidFill>
                <a:latin typeface="Georgia"/>
              </a:defRPr>
            </a:pPr>
            <a:r>
              <a:t>Integration &amp; Ingestion Layer</a:t>
            </a:r>
          </a:p>
          <a:p>
            <a:pPr>
              <a:spcBef>
                <a:spcPts val="600"/>
              </a:spcBef>
              <a:defRPr sz="1100">
                <a:solidFill>
                  <a:srgbClr val="0E1713"/>
                </a:solidFill>
                <a:latin typeface="Segoe UI"/>
              </a:defRPr>
            </a:pPr>
            <a:r>
              <a:t>• Alpaca Trading &amp; Market Data API streaming</a:t>
            </a:r>
          </a:p>
          <a:p>
            <a:pPr>
              <a:spcBef>
                <a:spcPts val="600"/>
              </a:spcBef>
              <a:defRPr sz="1100">
                <a:solidFill>
                  <a:srgbClr val="0E1713"/>
                </a:solidFill>
                <a:latin typeface="Segoe UI"/>
              </a:defRPr>
            </a:pPr>
            <a:r>
              <a:t>• Full option chain retrieval &amp; liquidity filtering</a:t>
            </a:r>
          </a:p>
          <a:p>
            <a:pPr>
              <a:spcBef>
                <a:spcPts val="600"/>
              </a:spcBef>
              <a:defRPr sz="1100">
                <a:solidFill>
                  <a:srgbClr val="0E1713"/>
                </a:solidFill>
                <a:latin typeface="Segoe UI"/>
              </a:defRPr>
            </a:pPr>
            <a:r>
              <a:t>• Real-time news ingestion and corporate actions</a:t>
            </a:r>
          </a:p>
          <a:p>
            <a:pPr>
              <a:spcBef>
                <a:spcPts val="600"/>
              </a:spcBef>
              <a:defRPr sz="1100">
                <a:solidFill>
                  <a:srgbClr val="0E1713"/>
                </a:solidFill>
                <a:latin typeface="Segoe UI"/>
              </a:defRPr>
            </a:pPr>
            <a:r>
              <a:t>• Alpaca MCP server interface for tool calling</a:t>
            </a:r>
          </a:p>
          <a:p>
            <a:pPr>
              <a:spcBef>
                <a:spcPts val="600"/>
              </a:spcBef>
              <a:defRPr sz="1100">
                <a:solidFill>
                  <a:srgbClr val="0E1713"/>
                </a:solidFill>
                <a:latin typeface="Segoe UI"/>
              </a:defRPr>
            </a:pPr>
            <a:r>
              <a:t>• Persistent PostgreSQL state &amp; auditable agent run logs</a:t>
            </a:r>
          </a:p>
        </p:txBody>
      </p:sp>
      <p:sp>
        <p:nvSpPr>
          <p:cNvPr id="13" name="Rectangle 12"/>
          <p:cNvSpPr/>
          <p:nvPr/>
        </p:nvSpPr>
        <p:spPr>
          <a:xfrm>
            <a:off x="8119872" y="1783080"/>
            <a:ext cx="3328416" cy="3931920"/>
          </a:xfrm>
          <a:prstGeom prst="rect">
            <a:avLst/>
          </a:prstGeom>
          <a:solidFill>
            <a:srgbClr val="FFFFFF"/>
          </a:solidFill>
          <a:ln w="12700">
            <a:solidFill>
              <a:srgbClr val="CCD8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119872" y="1783080"/>
            <a:ext cx="3328416" cy="36576"/>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02752" y="1920240"/>
            <a:ext cx="2962656" cy="3657600"/>
          </a:xfrm>
          <a:prstGeom prst="rect">
            <a:avLst/>
          </a:prstGeom>
          <a:noFill/>
        </p:spPr>
        <p:txBody>
          <a:bodyPr wrap="square" lIns="0" tIns="0" rIns="0" bIns="0">
            <a:spAutoFit/>
          </a:bodyPr>
          <a:lstStyle/>
          <a:p>
            <a:pPr>
              <a:defRPr sz="1300" b="1">
                <a:solidFill>
                  <a:srgbClr val="BE123C"/>
                </a:solidFill>
                <a:latin typeface="Consolas"/>
              </a:defRPr>
            </a:pPr>
            <a:r>
              <a:t>DETERMINISTIC CODE ENFORCES</a:t>
            </a:r>
          </a:p>
          <a:p>
            <a:pPr>
              <a:spcBef>
                <a:spcPts val="400"/>
              </a:spcBef>
              <a:defRPr sz="1500" b="1">
                <a:solidFill>
                  <a:srgbClr val="1B4332"/>
                </a:solidFill>
                <a:latin typeface="Georgia"/>
              </a:defRPr>
            </a:pPr>
            <a:r>
              <a:t>Quantitative Safety &amp; Risk Gate</a:t>
            </a:r>
          </a:p>
          <a:p>
            <a:pPr>
              <a:spcBef>
                <a:spcPts val="600"/>
              </a:spcBef>
              <a:defRPr sz="1100">
                <a:solidFill>
                  <a:srgbClr val="0E1713"/>
                </a:solidFill>
                <a:latin typeface="Segoe UI"/>
              </a:defRPr>
            </a:pPr>
            <a:r>
              <a:t>• Zero hallucinated math — LLMs never compute Greeks or VaR</a:t>
            </a:r>
          </a:p>
          <a:p>
            <a:pPr>
              <a:spcBef>
                <a:spcPts val="600"/>
              </a:spcBef>
              <a:defRPr sz="1100">
                <a:solidFill>
                  <a:srgbClr val="0E1713"/>
                </a:solidFill>
                <a:latin typeface="Segoe UI"/>
              </a:defRPr>
            </a:pPr>
            <a:r>
              <a:t>• Black-Scholes Delta (Δ), Gamma (Γ), Theta (Θ), Vega (ν)</a:t>
            </a:r>
          </a:p>
          <a:p>
            <a:pPr>
              <a:spcBef>
                <a:spcPts val="600"/>
              </a:spcBef>
              <a:defRPr sz="1100">
                <a:solidFill>
                  <a:srgbClr val="0E1713"/>
                </a:solidFill>
                <a:latin typeface="Segoe UI"/>
              </a:defRPr>
            </a:pPr>
            <a:r>
              <a:t>• Parametric &amp; Cornish-Fisher Value-at-Risk (VaR)</a:t>
            </a:r>
          </a:p>
          <a:p>
            <a:pPr>
              <a:spcBef>
                <a:spcPts val="600"/>
              </a:spcBef>
              <a:defRPr sz="1100">
                <a:solidFill>
                  <a:srgbClr val="0E1713"/>
                </a:solidFill>
                <a:latin typeface="Segoe UI"/>
              </a:defRPr>
            </a:pPr>
            <a:r>
              <a:t>• Hard risk limits: maximum budget, notional, and position size</a:t>
            </a:r>
          </a:p>
          <a:p>
            <a:pPr>
              <a:spcBef>
                <a:spcPts val="600"/>
              </a:spcBef>
              <a:defRPr sz="1100">
                <a:solidFill>
                  <a:srgbClr val="0E1713"/>
                </a:solidFill>
                <a:latin typeface="Segoe UI"/>
              </a:defRPr>
            </a:pPr>
            <a:r>
              <a:t>• Non-negotiable veto: Risk Agent overrides any LLM decision</a:t>
            </a:r>
          </a:p>
        </p:txBody>
      </p:sp>
      <p:sp>
        <p:nvSpPr>
          <p:cNvPr id="16" name="Rectangle 15"/>
          <p:cNvSpPr/>
          <p:nvPr/>
        </p:nvSpPr>
        <p:spPr>
          <a:xfrm>
            <a:off x="731520" y="5852160"/>
            <a:ext cx="10728655" cy="594360"/>
          </a:xfrm>
          <a:prstGeom prst="rect">
            <a:avLst/>
          </a:prstGeom>
          <a:solidFill>
            <a:srgbClr val="EAF1EE"/>
          </a:solidFill>
          <a:ln w="12700">
            <a:solidFill>
              <a:srgbClr val="CCD8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14400" y="5897880"/>
            <a:ext cx="10332720" cy="502920"/>
          </a:xfrm>
          <a:prstGeom prst="rect">
            <a:avLst/>
          </a:prstGeom>
          <a:noFill/>
        </p:spPr>
        <p:txBody>
          <a:bodyPr wrap="square">
            <a:spAutoFit/>
          </a:bodyPr>
          <a:lstStyle/>
          <a:p>
            <a:pPr>
              <a:defRPr sz="1000" b="1">
                <a:solidFill>
                  <a:srgbClr val="BE123C"/>
                </a:solidFill>
                <a:latin typeface="Consolas"/>
              </a:defRPr>
            </a:pPr>
            <a:r>
              <a:t>MANDATORY SAFETY RULE: If an LLM proposes a trade that breaches the maximum hedge budget by $1, the deterministic Risk Gate instantly vetos or resizes the order without exception.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5"/>
          </a:solidFill>
          <a:ln>
            <a:solidFill>
              <a:srgbClr val="F4F7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65760"/>
            <a:ext cx="10728655" cy="36576"/>
          </a:xfrm>
          <a:prstGeom prst="rect">
            <a:avLst/>
          </a:prstGeom>
          <a:solidFill>
            <a:srgbClr val="A67C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502920"/>
            <a:ext cx="7315200" cy="320040"/>
          </a:xfrm>
          <a:prstGeom prst="rect">
            <a:avLst/>
          </a:prstGeom>
          <a:noFill/>
        </p:spPr>
        <p:txBody>
          <a:bodyPr wrap="square" lIns="0" tIns="0" rIns="0" bIns="0">
            <a:spAutoFit/>
          </a:bodyPr>
          <a:lstStyle/>
          <a:p>
            <a:pPr>
              <a:defRPr sz="1000" b="1">
                <a:solidFill>
                  <a:srgbClr val="A67C37"/>
                </a:solidFill>
                <a:latin typeface="Consolas"/>
              </a:defRPr>
            </a:pPr>
            <a:r>
              <a:t>MULTI-AGENT ORCHESTRATION</a:t>
            </a:r>
          </a:p>
        </p:txBody>
      </p:sp>
      <p:sp>
        <p:nvSpPr>
          <p:cNvPr id="5" name="TextBox 4"/>
          <p:cNvSpPr txBox="1"/>
          <p:nvPr/>
        </p:nvSpPr>
        <p:spPr>
          <a:xfrm>
            <a:off x="731520" y="777240"/>
            <a:ext cx="9144000" cy="594360"/>
          </a:xfrm>
          <a:prstGeom prst="rect">
            <a:avLst/>
          </a:prstGeom>
          <a:noFill/>
        </p:spPr>
        <p:txBody>
          <a:bodyPr wrap="square" lIns="0" tIns="0" rIns="0" bIns="0">
            <a:spAutoFit/>
          </a:bodyPr>
          <a:lstStyle/>
          <a:p>
            <a:pPr>
              <a:defRPr sz="2400" b="1">
                <a:solidFill>
                  <a:srgbClr val="1B4332"/>
                </a:solidFill>
                <a:latin typeface="Georgia"/>
              </a:defRPr>
            </a:pPr>
            <a:r>
              <a:t>Stateful LangGraph DAG &amp; The HedgeContext</a:t>
            </a:r>
          </a:p>
        </p:txBody>
      </p:sp>
      <p:sp>
        <p:nvSpPr>
          <p:cNvPr id="6" name="TextBox 5"/>
          <p:cNvSpPr txBox="1"/>
          <p:nvPr/>
        </p:nvSpPr>
        <p:spPr>
          <a:xfrm>
            <a:off x="731520" y="1353312"/>
            <a:ext cx="10698480" cy="320040"/>
          </a:xfrm>
          <a:prstGeom prst="rect">
            <a:avLst/>
          </a:prstGeom>
          <a:noFill/>
        </p:spPr>
        <p:txBody>
          <a:bodyPr wrap="square" lIns="0" tIns="0" rIns="0" bIns="0">
            <a:spAutoFit/>
          </a:bodyPr>
          <a:lstStyle/>
          <a:p>
            <a:pPr>
              <a:defRPr sz="1200">
                <a:solidFill>
                  <a:srgbClr val="52665C"/>
                </a:solidFill>
                <a:latin typeface="Segoe UI"/>
              </a:defRPr>
            </a:pPr>
            <a:r>
              <a:t>Eliminating context dilution through specialized agent responsibilities and standardized data contracts.</a:t>
            </a:r>
          </a:p>
        </p:txBody>
      </p:sp>
      <p:sp>
        <p:nvSpPr>
          <p:cNvPr id="7" name="Rectangle 6"/>
          <p:cNvSpPr/>
          <p:nvPr/>
        </p:nvSpPr>
        <p:spPr>
          <a:xfrm>
            <a:off x="731520" y="1783080"/>
            <a:ext cx="5120640" cy="3931920"/>
          </a:xfrm>
          <a:prstGeom prst="rect">
            <a:avLst/>
          </a:prstGeom>
          <a:solidFill>
            <a:srgbClr val="FFFFFF"/>
          </a:solidFill>
          <a:ln w="12700">
            <a:solidFill>
              <a:srgbClr val="CCD8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783080"/>
            <a:ext cx="5120640" cy="36576"/>
          </a:xfrm>
          <a:prstGeom prst="rect">
            <a:avLst/>
          </a:prstGeom>
          <a:solidFill>
            <a:srgbClr val="1B4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1920240"/>
            <a:ext cx="4754880" cy="3657600"/>
          </a:xfrm>
          <a:prstGeom prst="rect">
            <a:avLst/>
          </a:prstGeom>
          <a:noFill/>
        </p:spPr>
        <p:txBody>
          <a:bodyPr wrap="square" lIns="0" tIns="0" rIns="0" bIns="0">
            <a:spAutoFit/>
          </a:bodyPr>
          <a:lstStyle/>
          <a:p>
            <a:pPr>
              <a:defRPr sz="1300" b="1">
                <a:solidFill>
                  <a:srgbClr val="1B4332"/>
                </a:solidFill>
                <a:latin typeface="Consolas"/>
              </a:defRPr>
            </a:pPr>
            <a:r>
              <a:t>THE 5 SPECIALIZED INGESTION AGENTS</a:t>
            </a:r>
          </a:p>
          <a:p>
            <a:pPr>
              <a:spcBef>
                <a:spcPts val="600"/>
              </a:spcBef>
              <a:defRPr sz="1200" b="1">
                <a:solidFill>
                  <a:srgbClr val="0E1713"/>
                </a:solidFill>
                <a:latin typeface="Georgia"/>
              </a:defRPr>
            </a:pPr>
            <a:r>
              <a:t>▶ Portfolio Management Agent</a:t>
            </a:r>
          </a:p>
          <a:p>
            <a:pPr>
              <a:defRPr sz="1000">
                <a:solidFill>
                  <a:srgbClr val="52665C"/>
                </a:solidFill>
                <a:latin typeface="Segoe UI"/>
              </a:defRPr>
            </a:pPr>
            <a:r>
              <a:t>Audits holdings, liquidation value, concentration, beta, and current hedge delta.</a:t>
            </a:r>
          </a:p>
          <a:p>
            <a:pPr>
              <a:spcBef>
                <a:spcPts val="600"/>
              </a:spcBef>
              <a:defRPr sz="1200" b="1">
                <a:solidFill>
                  <a:srgbClr val="0E1713"/>
                </a:solidFill>
                <a:latin typeface="Georgia"/>
              </a:defRPr>
            </a:pPr>
            <a:r>
              <a:t>▶ Stock Analysis Agent</a:t>
            </a:r>
          </a:p>
          <a:p>
            <a:pPr>
              <a:defRPr sz="1000">
                <a:solidFill>
                  <a:srgbClr val="52665C"/>
                </a:solidFill>
                <a:latin typeface="Segoe UI"/>
              </a:defRPr>
            </a:pPr>
            <a:r>
              <a:t>Computes idiosyncratic momentum, realized volatility, and correlation matrices.</a:t>
            </a:r>
          </a:p>
          <a:p>
            <a:pPr>
              <a:spcBef>
                <a:spcPts val="600"/>
              </a:spcBef>
              <a:defRPr sz="1200" b="1">
                <a:solidFill>
                  <a:srgbClr val="0E1713"/>
                </a:solidFill>
                <a:latin typeface="Georgia"/>
              </a:defRPr>
            </a:pPr>
            <a:r>
              <a:t>▶ Market Analysis Agent</a:t>
            </a:r>
          </a:p>
          <a:p>
            <a:pPr>
              <a:defRPr sz="1000">
                <a:solidFill>
                  <a:srgbClr val="52665C"/>
                </a:solidFill>
                <a:latin typeface="Segoe UI"/>
              </a:defRPr>
            </a:pPr>
            <a:r>
              <a:t>Tracks SPY/QQQ technicals, macro regimes, and VIX term structure.</a:t>
            </a:r>
          </a:p>
          <a:p>
            <a:pPr>
              <a:spcBef>
                <a:spcPts val="600"/>
              </a:spcBef>
              <a:defRPr sz="1200" b="1">
                <a:solidFill>
                  <a:srgbClr val="0E1713"/>
                </a:solidFill>
                <a:latin typeface="Georgia"/>
              </a:defRPr>
            </a:pPr>
            <a:r>
              <a:t>▶ News Analysis Agent</a:t>
            </a:r>
          </a:p>
          <a:p>
            <a:pPr>
              <a:defRPr sz="1000">
                <a:solidFill>
                  <a:srgbClr val="52665C"/>
                </a:solidFill>
                <a:latin typeface="Segoe UI"/>
              </a:defRPr>
            </a:pPr>
            <a:r>
              <a:t>Filters high-impact earnings releases, macro catalysts, and tail-risk headlines.</a:t>
            </a:r>
          </a:p>
          <a:p>
            <a:pPr>
              <a:spcBef>
                <a:spcPts val="600"/>
              </a:spcBef>
              <a:defRPr sz="1200" b="1">
                <a:solidFill>
                  <a:srgbClr val="0E1713"/>
                </a:solidFill>
                <a:latin typeface="Georgia"/>
              </a:defRPr>
            </a:pPr>
            <a:r>
              <a:t>▶ Options Analysis Agent</a:t>
            </a:r>
          </a:p>
          <a:p>
            <a:pPr>
              <a:defRPr sz="1000">
                <a:solidFill>
                  <a:srgbClr val="52665C"/>
                </a:solidFill>
                <a:latin typeface="Segoe UI"/>
              </a:defRPr>
            </a:pPr>
            <a:r>
              <a:t>Parses Alpaca option chains, filtering by moneyness, open interest, and bid-ask spreads.</a:t>
            </a:r>
          </a:p>
        </p:txBody>
      </p:sp>
      <p:sp>
        <p:nvSpPr>
          <p:cNvPr id="10" name="Rectangle 9"/>
          <p:cNvSpPr/>
          <p:nvPr/>
        </p:nvSpPr>
        <p:spPr>
          <a:xfrm>
            <a:off x="6217920" y="1783080"/>
            <a:ext cx="5242255" cy="3931920"/>
          </a:xfrm>
          <a:prstGeom prst="rect">
            <a:avLst/>
          </a:prstGeom>
          <a:solidFill>
            <a:srgbClr val="FFFFFF"/>
          </a:solidFill>
          <a:ln w="12700">
            <a:solidFill>
              <a:srgbClr val="CCD8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17920" y="1783080"/>
            <a:ext cx="5242255" cy="36576"/>
          </a:xfrm>
          <a:prstGeom prst="rect">
            <a:avLst/>
          </a:prstGeom>
          <a:solidFill>
            <a:srgbClr val="A67C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1920240"/>
            <a:ext cx="4846320" cy="3657600"/>
          </a:xfrm>
          <a:prstGeom prst="rect">
            <a:avLst/>
          </a:prstGeom>
          <a:noFill/>
        </p:spPr>
        <p:txBody>
          <a:bodyPr wrap="square" lIns="0" tIns="0" rIns="0" bIns="0">
            <a:spAutoFit/>
          </a:bodyPr>
          <a:lstStyle/>
          <a:p>
            <a:pPr>
              <a:defRPr sz="1300" b="1">
                <a:solidFill>
                  <a:srgbClr val="A67C37"/>
                </a:solidFill>
                <a:latin typeface="Consolas"/>
              </a:defRPr>
            </a:pPr>
            <a:r>
              <a:t>THE STANDARDIZED HEDGECONTEXT CONTRACT</a:t>
            </a:r>
          </a:p>
          <a:p>
            <a:pPr>
              <a:spcBef>
                <a:spcPts val="400"/>
              </a:spcBef>
              <a:defRPr sz="1100">
                <a:solidFill>
                  <a:srgbClr val="0E1713"/>
                </a:solidFill>
                <a:latin typeface="Segoe UI"/>
              </a:defRPr>
            </a:pPr>
            <a:r>
              <a:t>All raw telemetry is assembled into a single immutable, validated Pydantic contract. Downstream strategy agents receive clean, pre-computed inputs to prevent token bloat and hallucination:</a:t>
            </a:r>
          </a:p>
          <a:p>
            <a:pPr>
              <a:spcBef>
                <a:spcPts val="400"/>
              </a:spcBef>
              <a:defRPr sz="1000">
                <a:solidFill>
                  <a:srgbClr val="1B4332"/>
                </a:solidFill>
                <a:latin typeface="Consolas"/>
              </a:defRPr>
            </a:pPr>
            <a:r>
              <a:t>• portfolio_state: AUM, cash, positions, beta, drawdown, existing hedges</a:t>
            </a:r>
          </a:p>
          <a:p>
            <a:pPr>
              <a:spcBef>
                <a:spcPts val="400"/>
              </a:spcBef>
              <a:defRPr sz="1000">
                <a:solidFill>
                  <a:srgbClr val="1B4332"/>
                </a:solidFill>
                <a:latin typeface="Consolas"/>
              </a:defRPr>
            </a:pPr>
            <a:r>
              <a:t>• market_state: Regime (Bull/Bear/Shock), VIX level, trend strength</a:t>
            </a:r>
          </a:p>
          <a:p>
            <a:pPr>
              <a:spcBef>
                <a:spcPts val="400"/>
              </a:spcBef>
              <a:defRPr sz="1000">
                <a:solidFill>
                  <a:srgbClr val="1B4332"/>
                </a:solidFill>
                <a:latin typeface="Consolas"/>
              </a:defRPr>
            </a:pPr>
            <a:r>
              <a:t>• stock_state: Idiosyncratic volatility, contribution to portfolio VaR</a:t>
            </a:r>
          </a:p>
          <a:p>
            <a:pPr>
              <a:spcBef>
                <a:spcPts val="400"/>
              </a:spcBef>
              <a:defRPr sz="1000">
                <a:solidFill>
                  <a:srgbClr val="1B4332"/>
                </a:solidFill>
                <a:latin typeface="Consolas"/>
              </a:defRPr>
            </a:pPr>
            <a:r>
              <a:t>• news_context: High-priority risk events, sentiment impact score</a:t>
            </a:r>
          </a:p>
          <a:p>
            <a:pPr>
              <a:spcBef>
                <a:spcPts val="400"/>
              </a:spcBef>
              <a:defRPr sz="1000">
                <a:solidFill>
                  <a:srgbClr val="1B4332"/>
                </a:solidFill>
                <a:latin typeface="Consolas"/>
              </a:defRPr>
            </a:pPr>
            <a:r>
              <a:t>• option_candidates: Pre-filtered liquid strikes with verified Black-Scholes Greeks</a:t>
            </a:r>
          </a:p>
        </p:txBody>
      </p:sp>
      <p:sp>
        <p:nvSpPr>
          <p:cNvPr id="13" name="Rectangle 12"/>
          <p:cNvSpPr/>
          <p:nvPr/>
        </p:nvSpPr>
        <p:spPr>
          <a:xfrm>
            <a:off x="731520" y="5852160"/>
            <a:ext cx="10728655" cy="594360"/>
          </a:xfrm>
          <a:prstGeom prst="rect">
            <a:avLst/>
          </a:prstGeom>
          <a:solidFill>
            <a:srgbClr val="0F271D"/>
          </a:solidFill>
          <a:ln w="12700">
            <a:solidFill>
              <a:srgbClr val="CCD8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4400" y="5897880"/>
            <a:ext cx="10332720" cy="502920"/>
          </a:xfrm>
          <a:prstGeom prst="rect">
            <a:avLst/>
          </a:prstGeom>
          <a:noFill/>
        </p:spPr>
        <p:txBody>
          <a:bodyPr wrap="square">
            <a:spAutoFit/>
          </a:bodyPr>
          <a:lstStyle/>
          <a:p>
            <a:pPr>
              <a:defRPr sz="1100" b="1">
                <a:solidFill>
                  <a:srgbClr val="D4AF67"/>
                </a:solidFill>
                <a:latin typeface="Consolas"/>
              </a:defRPr>
            </a:pPr>
            <a:r>
              <a:t>WORKFLOW: Ingestion Agents ➔ HedgeContext ➔ 4 Strategy Agents ➔ Strategy Manager ➔ Risk Gate ➔ Alpaca Fill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5"/>
          </a:solidFill>
          <a:ln>
            <a:solidFill>
              <a:srgbClr val="F4F7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65760"/>
            <a:ext cx="10728655" cy="36576"/>
          </a:xfrm>
          <a:prstGeom prst="rect">
            <a:avLst/>
          </a:prstGeom>
          <a:solidFill>
            <a:srgbClr val="A67C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502920"/>
            <a:ext cx="7315200" cy="320040"/>
          </a:xfrm>
          <a:prstGeom prst="rect">
            <a:avLst/>
          </a:prstGeom>
          <a:noFill/>
        </p:spPr>
        <p:txBody>
          <a:bodyPr wrap="square" lIns="0" tIns="0" rIns="0" bIns="0">
            <a:spAutoFit/>
          </a:bodyPr>
          <a:lstStyle/>
          <a:p>
            <a:pPr>
              <a:defRPr sz="1000" b="1">
                <a:solidFill>
                  <a:srgbClr val="A67C37"/>
                </a:solidFill>
                <a:latin typeface="Consolas"/>
              </a:defRPr>
            </a:pPr>
            <a:r>
              <a:t>STRATEGY LAYER</a:t>
            </a:r>
          </a:p>
        </p:txBody>
      </p:sp>
      <p:sp>
        <p:nvSpPr>
          <p:cNvPr id="5" name="TextBox 4"/>
          <p:cNvSpPr txBox="1"/>
          <p:nvPr/>
        </p:nvSpPr>
        <p:spPr>
          <a:xfrm>
            <a:off x="731520" y="777240"/>
            <a:ext cx="9144000" cy="594360"/>
          </a:xfrm>
          <a:prstGeom prst="rect">
            <a:avLst/>
          </a:prstGeom>
          <a:noFill/>
        </p:spPr>
        <p:txBody>
          <a:bodyPr wrap="square" lIns="0" tIns="0" rIns="0" bIns="0">
            <a:spAutoFit/>
          </a:bodyPr>
          <a:lstStyle/>
          <a:p>
            <a:pPr>
              <a:defRPr sz="2400" b="1">
                <a:solidFill>
                  <a:srgbClr val="1B4332"/>
                </a:solidFill>
                <a:latin typeface="Georgia"/>
              </a:defRPr>
            </a:pPr>
            <a:r>
              <a:t>The Strategy Arena: 4 Competing Option Architectures</a:t>
            </a:r>
          </a:p>
        </p:txBody>
      </p:sp>
      <p:sp>
        <p:nvSpPr>
          <p:cNvPr id="6" name="TextBox 5"/>
          <p:cNvSpPr txBox="1"/>
          <p:nvPr/>
        </p:nvSpPr>
        <p:spPr>
          <a:xfrm>
            <a:off x="731520" y="1353312"/>
            <a:ext cx="10698480" cy="320040"/>
          </a:xfrm>
          <a:prstGeom prst="rect">
            <a:avLst/>
          </a:prstGeom>
          <a:noFill/>
        </p:spPr>
        <p:txBody>
          <a:bodyPr wrap="square" lIns="0" tIns="0" rIns="0" bIns="0">
            <a:spAutoFit/>
          </a:bodyPr>
          <a:lstStyle/>
          <a:p>
            <a:pPr>
              <a:defRPr sz="1200">
                <a:solidFill>
                  <a:srgbClr val="52665C"/>
                </a:solidFill>
                <a:latin typeface="Segoe UI"/>
              </a:defRPr>
            </a:pPr>
            <a:r>
              <a:t>Specialized agents formulate competing hypotheses evaluated across 8 quantitative dimensions.</a:t>
            </a:r>
          </a:p>
        </p:txBody>
      </p:sp>
      <p:sp>
        <p:nvSpPr>
          <p:cNvPr id="7" name="Rectangle 6"/>
          <p:cNvSpPr/>
          <p:nvPr/>
        </p:nvSpPr>
        <p:spPr>
          <a:xfrm>
            <a:off x="731520" y="1783080"/>
            <a:ext cx="2450592" cy="3931920"/>
          </a:xfrm>
          <a:prstGeom prst="rect">
            <a:avLst/>
          </a:prstGeom>
          <a:solidFill>
            <a:srgbClr val="FFFFFF"/>
          </a:solidFill>
          <a:ln w="12700">
            <a:solidFill>
              <a:srgbClr val="CCD8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783080"/>
            <a:ext cx="2450592" cy="36576"/>
          </a:xfrm>
          <a:prstGeom prst="rect">
            <a:avLst/>
          </a:prstGeom>
          <a:solidFill>
            <a:srgbClr val="1B4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1920240"/>
            <a:ext cx="2176272" cy="3657600"/>
          </a:xfrm>
          <a:prstGeom prst="rect">
            <a:avLst/>
          </a:prstGeom>
          <a:noFill/>
        </p:spPr>
        <p:txBody>
          <a:bodyPr wrap="square" lIns="0" tIns="0" rIns="0" bIns="0">
            <a:spAutoFit/>
          </a:bodyPr>
          <a:lstStyle/>
          <a:p>
            <a:pPr>
              <a:defRPr sz="1300" b="1">
                <a:solidFill>
                  <a:srgbClr val="1B4332"/>
                </a:solidFill>
                <a:latin typeface="Consolas"/>
              </a:defRPr>
            </a:pPr>
            <a:r>
              <a:t>PROTECTIVE PUT</a:t>
            </a:r>
          </a:p>
          <a:p>
            <a:pPr>
              <a:spcBef>
                <a:spcPts val="200"/>
              </a:spcBef>
              <a:defRPr sz="1400" b="1">
                <a:solidFill>
                  <a:srgbClr val="0E1713"/>
                </a:solidFill>
                <a:latin typeface="Georgia"/>
              </a:defRPr>
            </a:pPr>
            <a:r>
              <a:t>Direct Downside Floor</a:t>
            </a:r>
          </a:p>
          <a:p>
            <a:pPr>
              <a:spcBef>
                <a:spcPts val="400"/>
              </a:spcBef>
              <a:defRPr sz="1000">
                <a:solidFill>
                  <a:srgbClr val="1B4332"/>
                </a:solidFill>
                <a:latin typeface="Consolas"/>
              </a:defRPr>
            </a:pPr>
            <a:r>
              <a:t>Structure: Buy OTM Put</a:t>
            </a:r>
          </a:p>
          <a:p>
            <a:pPr>
              <a:spcBef>
                <a:spcPts val="600"/>
              </a:spcBef>
              <a:defRPr sz="1000">
                <a:solidFill>
                  <a:srgbClr val="15803D"/>
                </a:solidFill>
                <a:latin typeface="Segoe UI"/>
              </a:defRPr>
            </a:pPr>
            <a:r>
              <a:t>+ Advantage: Full catastrophic protection with 100% upside retention.</a:t>
            </a:r>
          </a:p>
          <a:p>
            <a:pPr>
              <a:spcBef>
                <a:spcPts val="400"/>
              </a:spcBef>
              <a:defRPr sz="1000">
                <a:solidFill>
                  <a:srgbClr val="BE123C"/>
                </a:solidFill>
                <a:latin typeface="Segoe UI"/>
              </a:defRPr>
            </a:pPr>
            <a:r>
              <a:t>- Trade-off: High cash premium, negative theta carry bleed.</a:t>
            </a:r>
          </a:p>
          <a:p>
            <a:pPr>
              <a:spcBef>
                <a:spcPts val="600"/>
              </a:spcBef>
              <a:defRPr sz="1000">
                <a:solidFill>
                  <a:srgbClr val="52665C"/>
                </a:solidFill>
                <a:latin typeface="Segoe UI"/>
              </a:defRPr>
            </a:pPr>
            <a:r>
              <a:t>▶ Regime: High-conviction crash or imminent shock regime.</a:t>
            </a:r>
          </a:p>
        </p:txBody>
      </p:sp>
      <p:sp>
        <p:nvSpPr>
          <p:cNvPr id="10" name="Rectangle 9"/>
          <p:cNvSpPr/>
          <p:nvPr/>
        </p:nvSpPr>
        <p:spPr>
          <a:xfrm>
            <a:off x="3483864" y="1783080"/>
            <a:ext cx="2450592" cy="3931920"/>
          </a:xfrm>
          <a:prstGeom prst="rect">
            <a:avLst/>
          </a:prstGeom>
          <a:solidFill>
            <a:srgbClr val="FFFFFF"/>
          </a:solidFill>
          <a:ln w="12700">
            <a:solidFill>
              <a:srgbClr val="CCD8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483864" y="1783080"/>
            <a:ext cx="2450592" cy="36576"/>
          </a:xfrm>
          <a:prstGeom prst="rect">
            <a:avLst/>
          </a:prstGeom>
          <a:solidFill>
            <a:srgbClr val="A67C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21024" y="1920240"/>
            <a:ext cx="2176272" cy="3657600"/>
          </a:xfrm>
          <a:prstGeom prst="rect">
            <a:avLst/>
          </a:prstGeom>
          <a:noFill/>
        </p:spPr>
        <p:txBody>
          <a:bodyPr wrap="square" lIns="0" tIns="0" rIns="0" bIns="0">
            <a:spAutoFit/>
          </a:bodyPr>
          <a:lstStyle/>
          <a:p>
            <a:pPr>
              <a:defRPr sz="1300" b="1">
                <a:solidFill>
                  <a:srgbClr val="A67C37"/>
                </a:solidFill>
                <a:latin typeface="Consolas"/>
              </a:defRPr>
            </a:pPr>
            <a:r>
              <a:t>BEAR PUT SPREAD</a:t>
            </a:r>
          </a:p>
          <a:p>
            <a:pPr>
              <a:spcBef>
                <a:spcPts val="200"/>
              </a:spcBef>
              <a:defRPr sz="1400" b="1">
                <a:solidFill>
                  <a:srgbClr val="0E1713"/>
                </a:solidFill>
                <a:latin typeface="Georgia"/>
              </a:defRPr>
            </a:pPr>
            <a:r>
              <a:t>Corridor Protection</a:t>
            </a:r>
          </a:p>
          <a:p>
            <a:pPr>
              <a:spcBef>
                <a:spcPts val="400"/>
              </a:spcBef>
              <a:defRPr sz="1000">
                <a:solidFill>
                  <a:srgbClr val="1B4332"/>
                </a:solidFill>
                <a:latin typeface="Consolas"/>
              </a:defRPr>
            </a:pPr>
            <a:r>
              <a:t>Structure: Buy High Put + Sell Low Put</a:t>
            </a:r>
          </a:p>
          <a:p>
            <a:pPr>
              <a:spcBef>
                <a:spcPts val="600"/>
              </a:spcBef>
              <a:defRPr sz="1000">
                <a:solidFill>
                  <a:srgbClr val="15803D"/>
                </a:solidFill>
                <a:latin typeface="Segoe UI"/>
              </a:defRPr>
            </a:pPr>
            <a:r>
              <a:t>+ Advantage: Substantially reduced net premium cost with defined protection zone.</a:t>
            </a:r>
          </a:p>
          <a:p>
            <a:pPr>
              <a:spcBef>
                <a:spcPts val="400"/>
              </a:spcBef>
              <a:defRPr sz="1000">
                <a:solidFill>
                  <a:srgbClr val="BE123C"/>
                </a:solidFill>
                <a:latin typeface="Segoe UI"/>
              </a:defRPr>
            </a:pPr>
            <a:r>
              <a:t>- Trade-off: Protection capped below the short put strike.</a:t>
            </a:r>
          </a:p>
          <a:p>
            <a:pPr>
              <a:spcBef>
                <a:spcPts val="600"/>
              </a:spcBef>
              <a:defRPr sz="1000">
                <a:solidFill>
                  <a:srgbClr val="52665C"/>
                </a:solidFill>
                <a:latin typeface="Segoe UI"/>
              </a:defRPr>
            </a:pPr>
            <a:r>
              <a:t>▶ Regime: Moderate drawdown defense within hedge budget.</a:t>
            </a:r>
          </a:p>
        </p:txBody>
      </p:sp>
      <p:sp>
        <p:nvSpPr>
          <p:cNvPr id="13" name="Rectangle 12"/>
          <p:cNvSpPr/>
          <p:nvPr/>
        </p:nvSpPr>
        <p:spPr>
          <a:xfrm>
            <a:off x="6236208" y="1783080"/>
            <a:ext cx="2450592" cy="3931920"/>
          </a:xfrm>
          <a:prstGeom prst="rect">
            <a:avLst/>
          </a:prstGeom>
          <a:solidFill>
            <a:srgbClr val="FFFFFF"/>
          </a:solidFill>
          <a:ln w="12700">
            <a:solidFill>
              <a:srgbClr val="CCD8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236208" y="1783080"/>
            <a:ext cx="2450592" cy="3657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73368" y="1920240"/>
            <a:ext cx="2176272" cy="3657600"/>
          </a:xfrm>
          <a:prstGeom prst="rect">
            <a:avLst/>
          </a:prstGeom>
          <a:noFill/>
        </p:spPr>
        <p:txBody>
          <a:bodyPr wrap="square" lIns="0" tIns="0" rIns="0" bIns="0">
            <a:spAutoFit/>
          </a:bodyPr>
          <a:lstStyle/>
          <a:p>
            <a:pPr>
              <a:defRPr sz="1300" b="1">
                <a:solidFill>
                  <a:srgbClr val="0D9488"/>
                </a:solidFill>
                <a:latin typeface="Consolas"/>
              </a:defRPr>
            </a:pPr>
            <a:r>
              <a:t>COLLAR STRUCTURE</a:t>
            </a:r>
          </a:p>
          <a:p>
            <a:pPr>
              <a:spcBef>
                <a:spcPts val="200"/>
              </a:spcBef>
              <a:defRPr sz="1400" b="1">
                <a:solidFill>
                  <a:srgbClr val="0E1713"/>
                </a:solidFill>
                <a:latin typeface="Georgia"/>
              </a:defRPr>
            </a:pPr>
            <a:r>
              <a:t>Self-Funded Hedge</a:t>
            </a:r>
          </a:p>
          <a:p>
            <a:pPr>
              <a:spcBef>
                <a:spcPts val="400"/>
              </a:spcBef>
              <a:defRPr sz="1000">
                <a:solidFill>
                  <a:srgbClr val="1B4332"/>
                </a:solidFill>
                <a:latin typeface="Consolas"/>
              </a:defRPr>
            </a:pPr>
            <a:r>
              <a:t>Structure: Buy OTM Put + Sell OTM Call</a:t>
            </a:r>
          </a:p>
          <a:p>
            <a:pPr>
              <a:spcBef>
                <a:spcPts val="600"/>
              </a:spcBef>
              <a:defRPr sz="1000">
                <a:solidFill>
                  <a:srgbClr val="15803D"/>
                </a:solidFill>
                <a:latin typeface="Segoe UI"/>
              </a:defRPr>
            </a:pPr>
            <a:r>
              <a:t>+ Advantage: Near-zero cash outlay; short call fully funds the long put.</a:t>
            </a:r>
          </a:p>
          <a:p>
            <a:pPr>
              <a:spcBef>
                <a:spcPts val="400"/>
              </a:spcBef>
              <a:defRPr sz="1000">
                <a:solidFill>
                  <a:srgbClr val="BE123C"/>
                </a:solidFill>
                <a:latin typeface="Segoe UI"/>
              </a:defRPr>
            </a:pPr>
            <a:r>
              <a:t>- Trade-off: Upside potential strictly capped at short call strike.</a:t>
            </a:r>
          </a:p>
          <a:p>
            <a:pPr>
              <a:spcBef>
                <a:spcPts val="600"/>
              </a:spcBef>
              <a:defRPr sz="1000">
                <a:solidFill>
                  <a:srgbClr val="52665C"/>
                </a:solidFill>
                <a:latin typeface="Segoe UI"/>
              </a:defRPr>
            </a:pPr>
            <a:r>
              <a:t>▶ Regime: High IV environments where cash protection is overpriced.</a:t>
            </a:r>
          </a:p>
        </p:txBody>
      </p:sp>
      <p:sp>
        <p:nvSpPr>
          <p:cNvPr id="16" name="Rectangle 15"/>
          <p:cNvSpPr/>
          <p:nvPr/>
        </p:nvSpPr>
        <p:spPr>
          <a:xfrm>
            <a:off x="8988552" y="1783080"/>
            <a:ext cx="2450592" cy="3931920"/>
          </a:xfrm>
          <a:prstGeom prst="rect">
            <a:avLst/>
          </a:prstGeom>
          <a:solidFill>
            <a:srgbClr val="FFFFFF"/>
          </a:solidFill>
          <a:ln w="12700">
            <a:solidFill>
              <a:srgbClr val="CCD8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988552" y="1783080"/>
            <a:ext cx="2450592" cy="36576"/>
          </a:xfrm>
          <a:prstGeom prst="rect">
            <a:avLst/>
          </a:prstGeom>
          <a:solidFill>
            <a:srgbClr val="526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25712" y="1920240"/>
            <a:ext cx="2176272" cy="3657600"/>
          </a:xfrm>
          <a:prstGeom prst="rect">
            <a:avLst/>
          </a:prstGeom>
          <a:noFill/>
        </p:spPr>
        <p:txBody>
          <a:bodyPr wrap="square" lIns="0" tIns="0" rIns="0" bIns="0">
            <a:spAutoFit/>
          </a:bodyPr>
          <a:lstStyle/>
          <a:p>
            <a:pPr>
              <a:defRPr sz="1300" b="1">
                <a:solidFill>
                  <a:srgbClr val="52665C"/>
                </a:solidFill>
                <a:latin typeface="Consolas"/>
              </a:defRPr>
            </a:pPr>
            <a:r>
              <a:t>NO-HEDGE DISCIPLINE</a:t>
            </a:r>
          </a:p>
          <a:p>
            <a:pPr>
              <a:spcBef>
                <a:spcPts val="200"/>
              </a:spcBef>
              <a:defRPr sz="1400" b="1">
                <a:solidFill>
                  <a:srgbClr val="0E1713"/>
                </a:solidFill>
                <a:latin typeface="Georgia"/>
              </a:defRPr>
            </a:pPr>
            <a:r>
              <a:t>Capital Preservation</a:t>
            </a:r>
          </a:p>
          <a:p>
            <a:pPr>
              <a:spcBef>
                <a:spcPts val="400"/>
              </a:spcBef>
              <a:defRPr sz="1000">
                <a:solidFill>
                  <a:srgbClr val="1B4332"/>
                </a:solidFill>
                <a:latin typeface="Consolas"/>
              </a:defRPr>
            </a:pPr>
            <a:r>
              <a:t>Structure: No Trade / Maintain Cash</a:t>
            </a:r>
          </a:p>
          <a:p>
            <a:pPr>
              <a:spcBef>
                <a:spcPts val="600"/>
              </a:spcBef>
              <a:defRPr sz="1000">
                <a:solidFill>
                  <a:srgbClr val="15803D"/>
                </a:solidFill>
                <a:latin typeface="Segoe UI"/>
              </a:defRPr>
            </a:pPr>
            <a:r>
              <a:t>+ Advantage: Zero premium spend; 100% upside participation and liquidity.</a:t>
            </a:r>
          </a:p>
          <a:p>
            <a:pPr>
              <a:spcBef>
                <a:spcPts val="400"/>
              </a:spcBef>
              <a:defRPr sz="1000">
                <a:solidFill>
                  <a:srgbClr val="BE123C"/>
                </a:solidFill>
                <a:latin typeface="Segoe UI"/>
              </a:defRPr>
            </a:pPr>
            <a:r>
              <a:t>- Trade-off: Exposed to unhedged market tail risk.</a:t>
            </a:r>
          </a:p>
          <a:p>
            <a:pPr>
              <a:spcBef>
                <a:spcPts val="600"/>
              </a:spcBef>
              <a:defRPr sz="1000">
                <a:solidFill>
                  <a:srgbClr val="52665C"/>
                </a:solidFill>
                <a:latin typeface="Segoe UI"/>
              </a:defRPr>
            </a:pPr>
            <a:r>
              <a:t>▶ Regime: Low volatility, healthy portfolio, or unfavorable option skew.</a:t>
            </a:r>
          </a:p>
        </p:txBody>
      </p:sp>
      <p:sp>
        <p:nvSpPr>
          <p:cNvPr id="19" name="Rectangle 18"/>
          <p:cNvSpPr/>
          <p:nvPr/>
        </p:nvSpPr>
        <p:spPr>
          <a:xfrm>
            <a:off x="731520" y="5852160"/>
            <a:ext cx="10728655" cy="594360"/>
          </a:xfrm>
          <a:prstGeom prst="rect">
            <a:avLst/>
          </a:prstGeom>
          <a:solidFill>
            <a:srgbClr val="EAF1EE"/>
          </a:solidFill>
          <a:ln w="12700">
            <a:solidFill>
              <a:srgbClr val="CCD8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4400" y="5897880"/>
            <a:ext cx="10332720" cy="502920"/>
          </a:xfrm>
          <a:prstGeom prst="rect">
            <a:avLst/>
          </a:prstGeom>
          <a:noFill/>
        </p:spPr>
        <p:txBody>
          <a:bodyPr wrap="square">
            <a:spAutoFit/>
          </a:bodyPr>
          <a:lstStyle/>
          <a:p>
            <a:pPr>
              <a:defRPr sz="1000" b="1">
                <a:solidFill>
                  <a:srgbClr val="1B4332"/>
                </a:solidFill>
                <a:latin typeface="Consolas"/>
              </a:defRPr>
            </a:pPr>
            <a:r>
              <a:t>STRATEGY MANAGER 8-D CRITERIA: Basis Risk • Net Carry Cost • Greeks Profile • Payoff Convexity • IV Surface Fit • Liquidity • Sizing • Opportunity Cost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5"/>
          </a:solidFill>
          <a:ln>
            <a:solidFill>
              <a:srgbClr val="F4F7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65760"/>
            <a:ext cx="10728655" cy="36576"/>
          </a:xfrm>
          <a:prstGeom prst="rect">
            <a:avLst/>
          </a:prstGeom>
          <a:solidFill>
            <a:srgbClr val="A67C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502920"/>
            <a:ext cx="7315200" cy="320040"/>
          </a:xfrm>
          <a:prstGeom prst="rect">
            <a:avLst/>
          </a:prstGeom>
          <a:noFill/>
        </p:spPr>
        <p:txBody>
          <a:bodyPr wrap="square" lIns="0" tIns="0" rIns="0" bIns="0">
            <a:spAutoFit/>
          </a:bodyPr>
          <a:lstStyle/>
          <a:p>
            <a:pPr>
              <a:defRPr sz="1000" b="1">
                <a:solidFill>
                  <a:srgbClr val="A67C37"/>
                </a:solidFill>
                <a:latin typeface="Consolas"/>
              </a:defRPr>
            </a:pPr>
            <a:r>
              <a:t>EXECUTION &amp; SAFETY</a:t>
            </a:r>
          </a:p>
        </p:txBody>
      </p:sp>
      <p:sp>
        <p:nvSpPr>
          <p:cNvPr id="5" name="TextBox 4"/>
          <p:cNvSpPr txBox="1"/>
          <p:nvPr/>
        </p:nvSpPr>
        <p:spPr>
          <a:xfrm>
            <a:off x="731520" y="777240"/>
            <a:ext cx="9144000" cy="594360"/>
          </a:xfrm>
          <a:prstGeom prst="rect">
            <a:avLst/>
          </a:prstGeom>
          <a:noFill/>
        </p:spPr>
        <p:txBody>
          <a:bodyPr wrap="square" lIns="0" tIns="0" rIns="0" bIns="0">
            <a:spAutoFit/>
          </a:bodyPr>
          <a:lstStyle/>
          <a:p>
            <a:pPr>
              <a:defRPr sz="2400" b="1">
                <a:solidFill>
                  <a:srgbClr val="1B4332"/>
                </a:solidFill>
                <a:latin typeface="Georgia"/>
              </a:defRPr>
            </a:pPr>
            <a:r>
              <a:t>Deterministic Risk Gate &amp; Alpaca Execution</a:t>
            </a:r>
          </a:p>
        </p:txBody>
      </p:sp>
      <p:sp>
        <p:nvSpPr>
          <p:cNvPr id="6" name="TextBox 5"/>
          <p:cNvSpPr txBox="1"/>
          <p:nvPr/>
        </p:nvSpPr>
        <p:spPr>
          <a:xfrm>
            <a:off x="731520" y="1353312"/>
            <a:ext cx="10698480" cy="320040"/>
          </a:xfrm>
          <a:prstGeom prst="rect">
            <a:avLst/>
          </a:prstGeom>
          <a:noFill/>
        </p:spPr>
        <p:txBody>
          <a:bodyPr wrap="square" lIns="0" tIns="0" rIns="0" bIns="0">
            <a:spAutoFit/>
          </a:bodyPr>
          <a:lstStyle/>
          <a:p>
            <a:pPr>
              <a:defRPr sz="1200">
                <a:solidFill>
                  <a:srgbClr val="52665C"/>
                </a:solidFill>
                <a:latin typeface="Segoe UI"/>
              </a:defRPr>
            </a:pPr>
            <a:r>
              <a:t>No trade touches Alpaca paper brokerage without clearing 6 deterministic mathematical guardrails.</a:t>
            </a:r>
          </a:p>
        </p:txBody>
      </p:sp>
      <p:sp>
        <p:nvSpPr>
          <p:cNvPr id="7" name="Rectangle 6"/>
          <p:cNvSpPr/>
          <p:nvPr/>
        </p:nvSpPr>
        <p:spPr>
          <a:xfrm>
            <a:off x="731520" y="1783080"/>
            <a:ext cx="5120640" cy="3931920"/>
          </a:xfrm>
          <a:prstGeom prst="rect">
            <a:avLst/>
          </a:prstGeom>
          <a:solidFill>
            <a:srgbClr val="FFFFFF"/>
          </a:solidFill>
          <a:ln w="12700">
            <a:solidFill>
              <a:srgbClr val="CCD8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783080"/>
            <a:ext cx="5120640" cy="36576"/>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1920240"/>
            <a:ext cx="4754880" cy="3657600"/>
          </a:xfrm>
          <a:prstGeom prst="rect">
            <a:avLst/>
          </a:prstGeom>
          <a:noFill/>
        </p:spPr>
        <p:txBody>
          <a:bodyPr wrap="square" lIns="0" tIns="0" rIns="0" bIns="0">
            <a:spAutoFit/>
          </a:bodyPr>
          <a:lstStyle/>
          <a:p>
            <a:pPr>
              <a:defRPr sz="1300" b="1">
                <a:solidFill>
                  <a:srgbClr val="BE123C"/>
                </a:solidFill>
                <a:latin typeface="Consolas"/>
              </a:defRPr>
            </a:pPr>
            <a:r>
              <a:t>THE 6 HARD DETERMINISTIC RISK GUARDRAILS</a:t>
            </a:r>
          </a:p>
          <a:p>
            <a:pPr>
              <a:spcBef>
                <a:spcPts val="400"/>
              </a:spcBef>
              <a:defRPr sz="1200" b="1">
                <a:solidFill>
                  <a:srgbClr val="1B4332"/>
                </a:solidFill>
                <a:latin typeface="Georgia"/>
              </a:defRPr>
            </a:pPr>
            <a:r>
              <a:t>✓ 1. Max Hedge Ratio Cap</a:t>
            </a:r>
          </a:p>
          <a:p>
            <a:pPr>
              <a:defRPr sz="1000">
                <a:solidFill>
                  <a:srgbClr val="52665C"/>
                </a:solidFill>
                <a:latin typeface="Segoe UI"/>
              </a:defRPr>
            </a:pPr>
            <a:r>
              <a:t>Enforces maximum 40% portfolio notional protection to prevent over-hedging.</a:t>
            </a:r>
          </a:p>
          <a:p>
            <a:pPr>
              <a:spcBef>
                <a:spcPts val="400"/>
              </a:spcBef>
              <a:defRPr sz="1200" b="1">
                <a:solidFill>
                  <a:srgbClr val="1B4332"/>
                </a:solidFill>
                <a:latin typeface="Georgia"/>
              </a:defRPr>
            </a:pPr>
            <a:r>
              <a:t>✓ 2. Cash Budget Ceiling</a:t>
            </a:r>
          </a:p>
          <a:p>
            <a:pPr>
              <a:defRPr sz="1000">
                <a:solidFill>
                  <a:srgbClr val="52665C"/>
                </a:solidFill>
                <a:latin typeface="Segoe UI"/>
              </a:defRPr>
            </a:pPr>
            <a:r>
              <a:t>Hard cap on option premium spend (e.g. max 2.5% of total portfolio value).</a:t>
            </a:r>
          </a:p>
          <a:p>
            <a:pPr>
              <a:spcBef>
                <a:spcPts val="400"/>
              </a:spcBef>
              <a:defRPr sz="1200" b="1">
                <a:solidFill>
                  <a:srgbClr val="1B4332"/>
                </a:solidFill>
                <a:latin typeface="Georgia"/>
              </a:defRPr>
            </a:pPr>
            <a:r>
              <a:t>✓ 3. Liquidity Screening</a:t>
            </a:r>
          </a:p>
          <a:p>
            <a:pPr>
              <a:defRPr sz="1000">
                <a:solidFill>
                  <a:srgbClr val="52665C"/>
                </a:solidFill>
                <a:latin typeface="Segoe UI"/>
              </a:defRPr>
            </a:pPr>
            <a:r>
              <a:t>Rejects contracts with wide bid-ask spreads or open interest below threshold.</a:t>
            </a:r>
          </a:p>
          <a:p>
            <a:pPr>
              <a:spcBef>
                <a:spcPts val="400"/>
              </a:spcBef>
              <a:defRPr sz="1200" b="1">
                <a:solidFill>
                  <a:srgbClr val="1B4332"/>
                </a:solidFill>
                <a:latin typeface="Georgia"/>
              </a:defRPr>
            </a:pPr>
            <a:r>
              <a:t>✓ 4. Tenor Safety Bounds</a:t>
            </a:r>
          </a:p>
          <a:p>
            <a:pPr>
              <a:defRPr sz="1000">
                <a:solidFill>
                  <a:srgbClr val="52665C"/>
                </a:solidFill>
                <a:latin typeface="Segoe UI"/>
              </a:defRPr>
            </a:pPr>
            <a:r>
              <a:t>Filters out ultra-short theta death (&lt;7 DTE) and illiquid LEAPS (&gt;90 DTE).</a:t>
            </a:r>
          </a:p>
          <a:p>
            <a:pPr>
              <a:spcBef>
                <a:spcPts val="400"/>
              </a:spcBef>
              <a:defRPr sz="1200" b="1">
                <a:solidFill>
                  <a:srgbClr val="1B4332"/>
                </a:solidFill>
                <a:latin typeface="Georgia"/>
              </a:defRPr>
            </a:pPr>
            <a:r>
              <a:t>✓ 5. Greeks Sensitivity Cap</a:t>
            </a:r>
          </a:p>
          <a:p>
            <a:pPr>
              <a:defRPr sz="1000">
                <a:solidFill>
                  <a:srgbClr val="52665C"/>
                </a:solidFill>
                <a:latin typeface="Segoe UI"/>
              </a:defRPr>
            </a:pPr>
            <a:r>
              <a:t>Limits portfolio Delta drift (Δ) and excessive Gamma exposure (Γ).</a:t>
            </a:r>
          </a:p>
          <a:p>
            <a:pPr>
              <a:spcBef>
                <a:spcPts val="400"/>
              </a:spcBef>
              <a:defRPr sz="1200" b="1">
                <a:solidFill>
                  <a:srgbClr val="1B4332"/>
                </a:solidFill>
                <a:latin typeface="Georgia"/>
              </a:defRPr>
            </a:pPr>
            <a:r>
              <a:t>✓ 6. Margin &amp; Buying Power</a:t>
            </a:r>
          </a:p>
          <a:p>
            <a:pPr>
              <a:defRPr sz="1000">
                <a:solidFill>
                  <a:srgbClr val="52665C"/>
                </a:solidFill>
                <a:latin typeface="Segoe UI"/>
              </a:defRPr>
            </a:pPr>
            <a:r>
              <a:t>Pre-flight check verifying account cash and buying power sufficiency.</a:t>
            </a:r>
          </a:p>
        </p:txBody>
      </p:sp>
      <p:sp>
        <p:nvSpPr>
          <p:cNvPr id="10" name="Rectangle 9"/>
          <p:cNvSpPr/>
          <p:nvPr/>
        </p:nvSpPr>
        <p:spPr>
          <a:xfrm>
            <a:off x="6217920" y="1783080"/>
            <a:ext cx="5242255" cy="3931920"/>
          </a:xfrm>
          <a:prstGeom prst="rect">
            <a:avLst/>
          </a:prstGeom>
          <a:solidFill>
            <a:srgbClr val="FFFFFF"/>
          </a:solidFill>
          <a:ln w="12700">
            <a:solidFill>
              <a:srgbClr val="CCD8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17920" y="1783080"/>
            <a:ext cx="5242255" cy="36576"/>
          </a:xfrm>
          <a:prstGeom prst="rect">
            <a:avLst/>
          </a:prstGeom>
          <a:solidFill>
            <a:srgbClr val="1B4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1920240"/>
            <a:ext cx="4846320" cy="3657600"/>
          </a:xfrm>
          <a:prstGeom prst="rect">
            <a:avLst/>
          </a:prstGeom>
          <a:noFill/>
        </p:spPr>
        <p:txBody>
          <a:bodyPr wrap="square" lIns="0" tIns="0" rIns="0" bIns="0">
            <a:spAutoFit/>
          </a:bodyPr>
          <a:lstStyle/>
          <a:p>
            <a:pPr>
              <a:defRPr sz="1300" b="1">
                <a:solidFill>
                  <a:srgbClr val="1B4332"/>
                </a:solidFill>
                <a:latin typeface="Consolas"/>
              </a:defRPr>
            </a:pPr>
            <a:r>
              <a:t>NATIVE ALPACA MULTI-LEG BROKERAGE EXECUTION</a:t>
            </a:r>
          </a:p>
          <a:p>
            <a:pPr>
              <a:spcBef>
                <a:spcPts val="600"/>
              </a:spcBef>
              <a:defRPr sz="1200" b="1">
                <a:solidFill>
                  <a:srgbClr val="0E1713"/>
                </a:solidFill>
                <a:latin typeface="Georgia"/>
              </a:defRPr>
            </a:pPr>
            <a:r>
              <a:t>▶ Atomic Multi-Leg Orders</a:t>
            </a:r>
          </a:p>
          <a:p>
            <a:pPr>
              <a:defRPr sz="1000">
                <a:solidFill>
                  <a:srgbClr val="52665C"/>
                </a:solidFill>
                <a:latin typeface="Segoe UI"/>
              </a:defRPr>
            </a:pPr>
            <a:r>
              <a:t>Executes Put Spreads and Collars natively via Alpaca API to completely eliminate 'legging risk' (partial single-leg fills).</a:t>
            </a:r>
          </a:p>
          <a:p>
            <a:pPr>
              <a:spcBef>
                <a:spcPts val="600"/>
              </a:spcBef>
              <a:defRPr sz="1200" b="1">
                <a:solidFill>
                  <a:srgbClr val="0E1713"/>
                </a:solidFill>
                <a:latin typeface="Georgia"/>
              </a:defRPr>
            </a:pPr>
            <a:r>
              <a:t>▶ Alpaca MCP Integration</a:t>
            </a:r>
          </a:p>
          <a:p>
            <a:pPr>
              <a:defRPr sz="1000">
                <a:solidFill>
                  <a:srgbClr val="52665C"/>
                </a:solidFill>
                <a:latin typeface="Segoe UI"/>
              </a:defRPr>
            </a:pPr>
            <a:r>
              <a:t>Standardized Model Context Protocol tool endpoints for portfolio queries, option chain discovery, and order lifecycle.</a:t>
            </a:r>
          </a:p>
          <a:p>
            <a:pPr>
              <a:spcBef>
                <a:spcPts val="600"/>
              </a:spcBef>
              <a:defRPr sz="1200" b="1">
                <a:solidFill>
                  <a:srgbClr val="0E1713"/>
                </a:solidFill>
                <a:latin typeface="Georgia"/>
              </a:defRPr>
            </a:pPr>
            <a:r>
              <a:t>▶ Slippage &amp; Fill Tracking</a:t>
            </a:r>
          </a:p>
          <a:p>
            <a:pPr>
              <a:defRPr sz="1000">
                <a:solidFill>
                  <a:srgbClr val="52665C"/>
                </a:solidFill>
                <a:latin typeface="Segoe UI"/>
              </a:defRPr>
            </a:pPr>
            <a:r>
              <a:t>Measures fill prices against midpoint and limits, logging exact execution slippage to database.</a:t>
            </a:r>
          </a:p>
          <a:p>
            <a:pPr>
              <a:spcBef>
                <a:spcPts val="600"/>
              </a:spcBef>
              <a:defRPr sz="1200" b="1">
                <a:solidFill>
                  <a:srgbClr val="0E1713"/>
                </a:solidFill>
                <a:latin typeface="Georgia"/>
              </a:defRPr>
            </a:pPr>
            <a:r>
              <a:t>▶ Auditable State Transition</a:t>
            </a:r>
          </a:p>
          <a:p>
            <a:pPr>
              <a:defRPr sz="1000">
                <a:solidFill>
                  <a:srgbClr val="52665C"/>
                </a:solidFill>
                <a:latin typeface="Segoe UI"/>
              </a:defRPr>
            </a:pPr>
            <a:r>
              <a:t>Fills update portfolio snapshots and hedge state; fails trigger automatic recovery workflows.</a:t>
            </a:r>
          </a:p>
        </p:txBody>
      </p:sp>
      <p:sp>
        <p:nvSpPr>
          <p:cNvPr id="13" name="Rectangle 12"/>
          <p:cNvSpPr/>
          <p:nvPr/>
        </p:nvSpPr>
        <p:spPr>
          <a:xfrm>
            <a:off x="731520" y="5852160"/>
            <a:ext cx="10728655" cy="594360"/>
          </a:xfrm>
          <a:prstGeom prst="rect">
            <a:avLst/>
          </a:prstGeom>
          <a:solidFill>
            <a:srgbClr val="EAF1EE"/>
          </a:solidFill>
          <a:ln w="12700">
            <a:solidFill>
              <a:srgbClr val="CCD8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4400" y="5897880"/>
            <a:ext cx="10332720" cy="502920"/>
          </a:xfrm>
          <a:prstGeom prst="rect">
            <a:avLst/>
          </a:prstGeom>
          <a:noFill/>
        </p:spPr>
        <p:txBody>
          <a:bodyPr wrap="square">
            <a:spAutoFit/>
          </a:bodyPr>
          <a:lstStyle/>
          <a:p>
            <a:pPr>
              <a:defRPr sz="1000" b="1">
                <a:solidFill>
                  <a:srgbClr val="1B4332"/>
                </a:solidFill>
                <a:latin typeface="Consolas"/>
              </a:defRPr>
            </a:pPr>
            <a:r>
              <a:t>FAIL-SAFE ASSURANCE: The Execution Agent has zero discretion to modify approved orders. It only executes what the Risk Gate explicitly approved.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5"/>
          </a:solidFill>
          <a:ln>
            <a:solidFill>
              <a:srgbClr val="F4F7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65760"/>
            <a:ext cx="10728655" cy="36576"/>
          </a:xfrm>
          <a:prstGeom prst="rect">
            <a:avLst/>
          </a:prstGeom>
          <a:solidFill>
            <a:srgbClr val="A67C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502920"/>
            <a:ext cx="7315200" cy="320040"/>
          </a:xfrm>
          <a:prstGeom prst="rect">
            <a:avLst/>
          </a:prstGeom>
          <a:noFill/>
        </p:spPr>
        <p:txBody>
          <a:bodyPr wrap="square" lIns="0" tIns="0" rIns="0" bIns="0">
            <a:spAutoFit/>
          </a:bodyPr>
          <a:lstStyle/>
          <a:p>
            <a:pPr>
              <a:defRPr sz="1000" b="1">
                <a:solidFill>
                  <a:srgbClr val="A67C37"/>
                </a:solidFill>
                <a:latin typeface="Consolas"/>
              </a:defRPr>
            </a:pPr>
            <a:r>
              <a:t>DYNAMIC REBALANCING</a:t>
            </a:r>
          </a:p>
        </p:txBody>
      </p:sp>
      <p:sp>
        <p:nvSpPr>
          <p:cNvPr id="5" name="TextBox 4"/>
          <p:cNvSpPr txBox="1"/>
          <p:nvPr/>
        </p:nvSpPr>
        <p:spPr>
          <a:xfrm>
            <a:off x="731520" y="777240"/>
            <a:ext cx="9144000" cy="594360"/>
          </a:xfrm>
          <a:prstGeom prst="rect">
            <a:avLst/>
          </a:prstGeom>
          <a:noFill/>
        </p:spPr>
        <p:txBody>
          <a:bodyPr wrap="square" lIns="0" tIns="0" rIns="0" bIns="0">
            <a:spAutoFit/>
          </a:bodyPr>
          <a:lstStyle/>
          <a:p>
            <a:pPr>
              <a:defRPr sz="2400" b="1">
                <a:solidFill>
                  <a:srgbClr val="1B4332"/>
                </a:solidFill>
                <a:latin typeface="Georgia"/>
              </a:defRPr>
            </a:pPr>
            <a:r>
              <a:t>The Adaptive Lifecycle: 2-Tier Monitoring Loop</a:t>
            </a:r>
          </a:p>
        </p:txBody>
      </p:sp>
      <p:sp>
        <p:nvSpPr>
          <p:cNvPr id="6" name="TextBox 5"/>
          <p:cNvSpPr txBox="1"/>
          <p:nvPr/>
        </p:nvSpPr>
        <p:spPr>
          <a:xfrm>
            <a:off x="731520" y="1353312"/>
            <a:ext cx="10698480" cy="320040"/>
          </a:xfrm>
          <a:prstGeom prst="rect">
            <a:avLst/>
          </a:prstGeom>
          <a:noFill/>
        </p:spPr>
        <p:txBody>
          <a:bodyPr wrap="square" lIns="0" tIns="0" rIns="0" bIns="0">
            <a:spAutoFit/>
          </a:bodyPr>
          <a:lstStyle/>
          <a:p>
            <a:pPr>
              <a:defRPr sz="1200">
                <a:solidFill>
                  <a:srgbClr val="52665C"/>
                </a:solidFill>
                <a:latin typeface="Segoe UI"/>
              </a:defRPr>
            </a:pPr>
            <a:r>
              <a:t>How AEGIS prevents overtrading while actively dismantling protection when market danger subsides.</a:t>
            </a:r>
          </a:p>
        </p:txBody>
      </p:sp>
      <p:sp>
        <p:nvSpPr>
          <p:cNvPr id="7" name="Rectangle 6"/>
          <p:cNvSpPr/>
          <p:nvPr/>
        </p:nvSpPr>
        <p:spPr>
          <a:xfrm>
            <a:off x="731520" y="1783080"/>
            <a:ext cx="5120640" cy="3931920"/>
          </a:xfrm>
          <a:prstGeom prst="rect">
            <a:avLst/>
          </a:prstGeom>
          <a:solidFill>
            <a:srgbClr val="FFFFFF"/>
          </a:solidFill>
          <a:ln w="12700">
            <a:solidFill>
              <a:srgbClr val="CCD8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783080"/>
            <a:ext cx="5120640" cy="36576"/>
          </a:xfrm>
          <a:prstGeom prst="rect">
            <a:avLst/>
          </a:prstGeom>
          <a:solidFill>
            <a:srgbClr val="A67C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1920240"/>
            <a:ext cx="4754880" cy="3657600"/>
          </a:xfrm>
          <a:prstGeom prst="rect">
            <a:avLst/>
          </a:prstGeom>
          <a:noFill/>
        </p:spPr>
        <p:txBody>
          <a:bodyPr wrap="square" lIns="0" tIns="0" rIns="0" bIns="0">
            <a:spAutoFit/>
          </a:bodyPr>
          <a:lstStyle/>
          <a:p>
            <a:pPr>
              <a:defRPr sz="1300" b="1">
                <a:solidFill>
                  <a:srgbClr val="A67C37"/>
                </a:solidFill>
                <a:latin typeface="Consolas"/>
              </a:defRPr>
            </a:pPr>
            <a:r>
              <a:t>TIER-1: TICK-LEVEL DRIFT DETECTION</a:t>
            </a:r>
          </a:p>
          <a:p>
            <a:pPr>
              <a:spcBef>
                <a:spcPts val="600"/>
              </a:spcBef>
              <a:defRPr sz="1200" b="1">
                <a:solidFill>
                  <a:srgbClr val="0E1713"/>
                </a:solidFill>
                <a:latin typeface="Georgia"/>
              </a:defRPr>
            </a:pPr>
            <a:r>
              <a:t>▶ Hedge Drift Tracking</a:t>
            </a:r>
          </a:p>
          <a:p>
            <a:pPr>
              <a:defRPr sz="1000">
                <a:solidFill>
                  <a:srgbClr val="52665C"/>
                </a:solidFill>
                <a:latin typeface="Segoe UI"/>
              </a:defRPr>
            </a:pPr>
            <a:r>
              <a:t>Calculates the spread between Current Hedge Ratio and Target Hedge Ratio in real time.</a:t>
            </a:r>
          </a:p>
          <a:p>
            <a:pPr>
              <a:spcBef>
                <a:spcPts val="600"/>
              </a:spcBef>
              <a:defRPr sz="1200" b="1">
                <a:solidFill>
                  <a:srgbClr val="0E1713"/>
                </a:solidFill>
                <a:latin typeface="Georgia"/>
              </a:defRPr>
            </a:pPr>
            <a:r>
              <a:t>▶ Statistical Deadbands (±2.5%)</a:t>
            </a:r>
          </a:p>
          <a:p>
            <a:pPr>
              <a:defRPr sz="1000">
                <a:solidFill>
                  <a:srgbClr val="52665C"/>
                </a:solidFill>
                <a:latin typeface="Segoe UI"/>
              </a:defRPr>
            </a:pPr>
            <a:r>
              <a:t>Ignores small intraday market noise to prevent fee-churning and excessive order submission.</a:t>
            </a:r>
          </a:p>
          <a:p>
            <a:pPr>
              <a:spcBef>
                <a:spcPts val="600"/>
              </a:spcBef>
              <a:defRPr sz="1200" b="1">
                <a:solidFill>
                  <a:srgbClr val="0E1713"/>
                </a:solidFill>
                <a:latin typeface="Georgia"/>
              </a:defRPr>
            </a:pPr>
            <a:r>
              <a:t>▶ Strict Cooldown Windows</a:t>
            </a:r>
          </a:p>
          <a:p>
            <a:pPr>
              <a:defRPr sz="1000">
                <a:solidFill>
                  <a:srgbClr val="52665C"/>
                </a:solidFill>
                <a:latin typeface="Segoe UI"/>
              </a:defRPr>
            </a:pPr>
            <a:r>
              <a:t>Enforces a mandatory 60-minute cooldown post-execution to allow price discovery to settle.</a:t>
            </a:r>
          </a:p>
          <a:p>
            <a:pPr>
              <a:spcBef>
                <a:spcPts val="600"/>
              </a:spcBef>
              <a:defRPr sz="1200" b="1">
                <a:solidFill>
                  <a:srgbClr val="0E1713"/>
                </a:solidFill>
                <a:latin typeface="Georgia"/>
              </a:defRPr>
            </a:pPr>
            <a:r>
              <a:t>▶ Emergency Shock Override</a:t>
            </a:r>
          </a:p>
          <a:p>
            <a:pPr>
              <a:defRPr sz="1000">
                <a:solidFill>
                  <a:srgbClr val="52665C"/>
                </a:solidFill>
                <a:latin typeface="Segoe UI"/>
              </a:defRPr>
            </a:pPr>
            <a:r>
              <a:t>Extreme tail-risk shocks (&gt;5% market drop or VIX &gt;35) bypass cooldowns to trigger instant defense.</a:t>
            </a:r>
          </a:p>
        </p:txBody>
      </p:sp>
      <p:sp>
        <p:nvSpPr>
          <p:cNvPr id="10" name="Rectangle 9"/>
          <p:cNvSpPr/>
          <p:nvPr/>
        </p:nvSpPr>
        <p:spPr>
          <a:xfrm>
            <a:off x="6217920" y="1783080"/>
            <a:ext cx="5242255" cy="3931920"/>
          </a:xfrm>
          <a:prstGeom prst="rect">
            <a:avLst/>
          </a:prstGeom>
          <a:solidFill>
            <a:srgbClr val="FFFFFF"/>
          </a:solidFill>
          <a:ln w="12700">
            <a:solidFill>
              <a:srgbClr val="CCD8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17920" y="1783080"/>
            <a:ext cx="5242255" cy="36576"/>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1920240"/>
            <a:ext cx="4846320" cy="3657600"/>
          </a:xfrm>
          <a:prstGeom prst="rect">
            <a:avLst/>
          </a:prstGeom>
          <a:noFill/>
        </p:spPr>
        <p:txBody>
          <a:bodyPr wrap="square" lIns="0" tIns="0" rIns="0" bIns="0">
            <a:spAutoFit/>
          </a:bodyPr>
          <a:lstStyle/>
          <a:p>
            <a:pPr>
              <a:defRPr sz="1300" b="1">
                <a:solidFill>
                  <a:srgbClr val="15803D"/>
                </a:solidFill>
                <a:latin typeface="Consolas"/>
              </a:defRPr>
            </a:pPr>
            <a:r>
              <a:t>TIER-2: CLOSED-LOOP REASSESSMENT ACTIONS</a:t>
            </a:r>
          </a:p>
          <a:p>
            <a:pPr>
              <a:spcBef>
                <a:spcPts val="400"/>
              </a:spcBef>
              <a:defRPr sz="1100" b="1">
                <a:solidFill>
                  <a:srgbClr val="1B4332"/>
                </a:solidFill>
                <a:latin typeface="Consolas"/>
              </a:defRPr>
            </a:pPr>
            <a:r>
              <a:t>• INCREASE</a:t>
            </a:r>
          </a:p>
          <a:p>
            <a:pPr>
              <a:defRPr sz="1000">
                <a:solidFill>
                  <a:srgbClr val="52665C"/>
                </a:solidFill>
                <a:latin typeface="Segoe UI"/>
              </a:defRPr>
            </a:pPr>
            <a:r>
              <a:t>Market volatility spikes; scales hedge ratio up to target to absorb incoming shock.</a:t>
            </a:r>
          </a:p>
          <a:p>
            <a:pPr>
              <a:spcBef>
                <a:spcPts val="400"/>
              </a:spcBef>
              <a:defRPr sz="1100" b="1">
                <a:solidFill>
                  <a:srgbClr val="1B4332"/>
                </a:solidFill>
                <a:latin typeface="Consolas"/>
              </a:defRPr>
            </a:pPr>
            <a:r>
              <a:t>• DECREASE (The Differentiator!)</a:t>
            </a:r>
          </a:p>
          <a:p>
            <a:pPr>
              <a:defRPr sz="1000">
                <a:solidFill>
                  <a:srgbClr val="52665C"/>
                </a:solidFill>
                <a:latin typeface="Segoe UI"/>
              </a:defRPr>
            </a:pPr>
            <a:r>
              <a:t>Market stabilizes; systematically unwinds protection to lock in option gains and avoid theta decay.</a:t>
            </a:r>
          </a:p>
          <a:p>
            <a:pPr>
              <a:spcBef>
                <a:spcPts val="400"/>
              </a:spcBef>
              <a:defRPr sz="1100" b="1">
                <a:solidFill>
                  <a:srgbClr val="1B4332"/>
                </a:solidFill>
                <a:latin typeface="Consolas"/>
              </a:defRPr>
            </a:pPr>
            <a:r>
              <a:t>• REPLACE / ROLL</a:t>
            </a:r>
          </a:p>
          <a:p>
            <a:pPr>
              <a:defRPr sz="1000">
                <a:solidFill>
                  <a:srgbClr val="52665C"/>
                </a:solidFill>
                <a:latin typeface="Segoe UI"/>
              </a:defRPr>
            </a:pPr>
            <a:r>
              <a:t>Hedge approaches expiration or delta shifts out of the target corridor; rolls to optimal strike/expiry.</a:t>
            </a:r>
          </a:p>
          <a:p>
            <a:pPr>
              <a:spcBef>
                <a:spcPts val="400"/>
              </a:spcBef>
              <a:defRPr sz="1100" b="1">
                <a:solidFill>
                  <a:srgbClr val="1B4332"/>
                </a:solidFill>
                <a:latin typeface="Consolas"/>
              </a:defRPr>
            </a:pPr>
            <a:r>
              <a:t>• REMOVE</a:t>
            </a:r>
          </a:p>
          <a:p>
            <a:pPr>
              <a:defRPr sz="1000">
                <a:solidFill>
                  <a:srgbClr val="52665C"/>
                </a:solidFill>
                <a:latin typeface="Segoe UI"/>
              </a:defRPr>
            </a:pPr>
            <a:r>
              <a:t>Risk returns to baseline normal; closes remaining protection to return portfolio to 100% growth.</a:t>
            </a:r>
          </a:p>
          <a:p>
            <a:pPr>
              <a:spcBef>
                <a:spcPts val="400"/>
              </a:spcBef>
              <a:defRPr sz="1100" b="1">
                <a:solidFill>
                  <a:srgbClr val="1B4332"/>
                </a:solidFill>
                <a:latin typeface="Consolas"/>
              </a:defRPr>
            </a:pPr>
            <a:r>
              <a:t>• MAINTAIN</a:t>
            </a:r>
          </a:p>
          <a:p>
            <a:pPr>
              <a:defRPr sz="1000">
                <a:solidFill>
                  <a:srgbClr val="52665C"/>
                </a:solidFill>
                <a:latin typeface="Segoe UI"/>
              </a:defRPr>
            </a:pPr>
            <a:r>
              <a:t>Hedge is performing within optimal bounds; no action taken, saving transaction friction.</a:t>
            </a:r>
          </a:p>
        </p:txBody>
      </p:sp>
      <p:sp>
        <p:nvSpPr>
          <p:cNvPr id="13" name="Rectangle 12"/>
          <p:cNvSpPr/>
          <p:nvPr/>
        </p:nvSpPr>
        <p:spPr>
          <a:xfrm>
            <a:off x="731520" y="5852160"/>
            <a:ext cx="10728655" cy="594360"/>
          </a:xfrm>
          <a:prstGeom prst="rect">
            <a:avLst/>
          </a:prstGeom>
          <a:solidFill>
            <a:srgbClr val="1B4332"/>
          </a:solidFill>
          <a:ln w="12700">
            <a:solidFill>
              <a:srgbClr val="CCD8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4400" y="5897880"/>
            <a:ext cx="10332720" cy="502920"/>
          </a:xfrm>
          <a:prstGeom prst="rect">
            <a:avLst/>
          </a:prstGeom>
          <a:noFill/>
        </p:spPr>
        <p:txBody>
          <a:bodyPr wrap="square">
            <a:spAutoFit/>
          </a:bodyPr>
          <a:lstStyle/>
          <a:p>
            <a:pPr>
              <a:defRPr sz="1000" b="1">
                <a:solidFill>
                  <a:srgbClr val="FFFFFF"/>
                </a:solidFill>
                <a:latin typeface="Consolas"/>
              </a:defRPr>
            </a:pPr>
            <a:r>
              <a:t>LIFECYCLE PROOF: AEGIS is not an options-buying bot. It knows when to harvest gains and remove hedges, returning capital to growth.</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5"/>
          </a:solidFill>
          <a:ln>
            <a:solidFill>
              <a:srgbClr val="F4F7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65760"/>
            <a:ext cx="10728655" cy="36576"/>
          </a:xfrm>
          <a:prstGeom prst="rect">
            <a:avLst/>
          </a:prstGeom>
          <a:solidFill>
            <a:srgbClr val="A67C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502920"/>
            <a:ext cx="7315200" cy="320040"/>
          </a:xfrm>
          <a:prstGeom prst="rect">
            <a:avLst/>
          </a:prstGeom>
          <a:noFill/>
        </p:spPr>
        <p:txBody>
          <a:bodyPr wrap="square" lIns="0" tIns="0" rIns="0" bIns="0">
            <a:spAutoFit/>
          </a:bodyPr>
          <a:lstStyle/>
          <a:p>
            <a:pPr>
              <a:defRPr sz="1000" b="1">
                <a:solidFill>
                  <a:srgbClr val="A67C37"/>
                </a:solidFill>
                <a:latin typeface="Consolas"/>
              </a:defRPr>
            </a:pPr>
            <a:r>
              <a:t>FRONTEND EXPERIENCE</a:t>
            </a:r>
          </a:p>
        </p:txBody>
      </p:sp>
      <p:sp>
        <p:nvSpPr>
          <p:cNvPr id="5" name="TextBox 4"/>
          <p:cNvSpPr txBox="1"/>
          <p:nvPr/>
        </p:nvSpPr>
        <p:spPr>
          <a:xfrm>
            <a:off x="731520" y="777240"/>
            <a:ext cx="9144000" cy="594360"/>
          </a:xfrm>
          <a:prstGeom prst="rect">
            <a:avLst/>
          </a:prstGeom>
          <a:noFill/>
        </p:spPr>
        <p:txBody>
          <a:bodyPr wrap="square" lIns="0" tIns="0" rIns="0" bIns="0">
            <a:spAutoFit/>
          </a:bodyPr>
          <a:lstStyle/>
          <a:p>
            <a:pPr>
              <a:defRPr sz="2400" b="1">
                <a:solidFill>
                  <a:srgbClr val="1B4332"/>
                </a:solidFill>
                <a:latin typeface="Georgia"/>
              </a:defRPr>
            </a:pPr>
            <a:r>
              <a:t>Institutional Dashboard: 'Alabaster Spruce' UI</a:t>
            </a:r>
          </a:p>
        </p:txBody>
      </p:sp>
      <p:sp>
        <p:nvSpPr>
          <p:cNvPr id="6" name="TextBox 5"/>
          <p:cNvSpPr txBox="1"/>
          <p:nvPr/>
        </p:nvSpPr>
        <p:spPr>
          <a:xfrm>
            <a:off x="731520" y="1353312"/>
            <a:ext cx="10698480" cy="320040"/>
          </a:xfrm>
          <a:prstGeom prst="rect">
            <a:avLst/>
          </a:prstGeom>
          <a:noFill/>
        </p:spPr>
        <p:txBody>
          <a:bodyPr wrap="square" lIns="0" tIns="0" rIns="0" bIns="0">
            <a:spAutoFit/>
          </a:bodyPr>
          <a:lstStyle/>
          <a:p>
            <a:pPr>
              <a:defRPr sz="1200">
                <a:solidFill>
                  <a:srgbClr val="52665C"/>
                </a:solidFill>
                <a:latin typeface="Segoe UI"/>
              </a:defRPr>
            </a:pPr>
            <a:r>
              <a:t>Swiss private banking elegance combined with real-time quantitative telemetry and auditable decision trails.</a:t>
            </a:r>
          </a:p>
        </p:txBody>
      </p:sp>
      <p:sp>
        <p:nvSpPr>
          <p:cNvPr id="7" name="Rectangle 6"/>
          <p:cNvSpPr/>
          <p:nvPr/>
        </p:nvSpPr>
        <p:spPr>
          <a:xfrm>
            <a:off x="731520" y="1783080"/>
            <a:ext cx="2450592" cy="3931920"/>
          </a:xfrm>
          <a:prstGeom prst="rect">
            <a:avLst/>
          </a:prstGeom>
          <a:solidFill>
            <a:srgbClr val="FFFFFF"/>
          </a:solidFill>
          <a:ln w="12700">
            <a:solidFill>
              <a:srgbClr val="CCD8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783080"/>
            <a:ext cx="2450592" cy="36576"/>
          </a:xfrm>
          <a:prstGeom prst="rect">
            <a:avLst/>
          </a:prstGeom>
          <a:solidFill>
            <a:srgbClr val="1B4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1920240"/>
            <a:ext cx="2176272" cy="3657600"/>
          </a:xfrm>
          <a:prstGeom prst="rect">
            <a:avLst/>
          </a:prstGeom>
          <a:noFill/>
        </p:spPr>
        <p:txBody>
          <a:bodyPr wrap="square" lIns="0" tIns="0" rIns="0" bIns="0">
            <a:spAutoFit/>
          </a:bodyPr>
          <a:lstStyle/>
          <a:p>
            <a:pPr>
              <a:defRPr sz="1100" b="1">
                <a:solidFill>
                  <a:srgbClr val="1B4332"/>
                </a:solidFill>
                <a:latin typeface="Consolas"/>
              </a:defRPr>
            </a:pPr>
            <a:r>
              <a:t>PORTFOLIO KPI TELEMETRY</a:t>
            </a:r>
          </a:p>
          <a:p>
            <a:pPr>
              <a:spcBef>
                <a:spcPts val="300"/>
              </a:spcBef>
              <a:defRPr sz="1300" b="1">
                <a:solidFill>
                  <a:srgbClr val="1B4332"/>
                </a:solidFill>
                <a:latin typeface="Georgia"/>
              </a:defRPr>
            </a:pPr>
            <a:r>
              <a:t>Real-Time Equity &amp; Risk Exposure</a:t>
            </a:r>
          </a:p>
          <a:p>
            <a:pPr>
              <a:spcBef>
                <a:spcPts val="600"/>
              </a:spcBef>
              <a:defRPr sz="1000">
                <a:solidFill>
                  <a:srgbClr val="0E1713"/>
                </a:solidFill>
                <a:latin typeface="Segoe UI"/>
              </a:defRPr>
            </a:pPr>
            <a:r>
              <a:t>• Live Net Liquidation Value &amp; Uninvested Cash</a:t>
            </a:r>
          </a:p>
          <a:p>
            <a:pPr>
              <a:spcBef>
                <a:spcPts val="600"/>
              </a:spcBef>
              <a:defRPr sz="1000">
                <a:solidFill>
                  <a:srgbClr val="0E1713"/>
                </a:solidFill>
                <a:latin typeface="Segoe UI"/>
              </a:defRPr>
            </a:pPr>
            <a:r>
              <a:t>• Current Drawdown vs Historical High-Water Mark</a:t>
            </a:r>
          </a:p>
          <a:p>
            <a:pPr>
              <a:spcBef>
                <a:spcPts val="600"/>
              </a:spcBef>
              <a:defRPr sz="1000">
                <a:solidFill>
                  <a:srgbClr val="0E1713"/>
                </a:solidFill>
                <a:latin typeface="Segoe UI"/>
              </a:defRPr>
            </a:pPr>
            <a:r>
              <a:t>• Hedge Ratio Gauge (Current vs Target)</a:t>
            </a:r>
          </a:p>
          <a:p>
            <a:pPr>
              <a:spcBef>
                <a:spcPts val="600"/>
              </a:spcBef>
              <a:defRPr sz="1000">
                <a:solidFill>
                  <a:srgbClr val="0E1713"/>
                </a:solidFill>
                <a:latin typeface="Segoe UI"/>
              </a:defRPr>
            </a:pPr>
            <a:r>
              <a:t>• Hedged P&amp;L vs Unhedged Benchmark Overlay</a:t>
            </a:r>
          </a:p>
        </p:txBody>
      </p:sp>
      <p:sp>
        <p:nvSpPr>
          <p:cNvPr id="10" name="Rectangle 9"/>
          <p:cNvSpPr/>
          <p:nvPr/>
        </p:nvSpPr>
        <p:spPr>
          <a:xfrm>
            <a:off x="3483864" y="1783080"/>
            <a:ext cx="2450592" cy="3931920"/>
          </a:xfrm>
          <a:prstGeom prst="rect">
            <a:avLst/>
          </a:prstGeom>
          <a:solidFill>
            <a:srgbClr val="FFFFFF"/>
          </a:solidFill>
          <a:ln w="12700">
            <a:solidFill>
              <a:srgbClr val="CCD8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483864" y="1783080"/>
            <a:ext cx="2450592" cy="36576"/>
          </a:xfrm>
          <a:prstGeom prst="rect">
            <a:avLst/>
          </a:prstGeom>
          <a:solidFill>
            <a:srgbClr val="A67C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21024" y="1920240"/>
            <a:ext cx="2176272" cy="3657600"/>
          </a:xfrm>
          <a:prstGeom prst="rect">
            <a:avLst/>
          </a:prstGeom>
          <a:noFill/>
        </p:spPr>
        <p:txBody>
          <a:bodyPr wrap="square" lIns="0" tIns="0" rIns="0" bIns="0">
            <a:spAutoFit/>
          </a:bodyPr>
          <a:lstStyle/>
          <a:p>
            <a:pPr>
              <a:defRPr sz="1100" b="1">
                <a:solidFill>
                  <a:srgbClr val="A67C37"/>
                </a:solidFill>
                <a:latin typeface="Consolas"/>
              </a:defRPr>
            </a:pPr>
            <a:r>
              <a:t>INTERACTIVE PAYOFF CHART</a:t>
            </a:r>
          </a:p>
          <a:p>
            <a:pPr>
              <a:spcBef>
                <a:spcPts val="300"/>
              </a:spcBef>
              <a:defRPr sz="1300" b="1">
                <a:solidFill>
                  <a:srgbClr val="1B4332"/>
                </a:solidFill>
                <a:latin typeface="Georgia"/>
              </a:defRPr>
            </a:pPr>
            <a:r>
              <a:t>Recharts Visual Convexity Model</a:t>
            </a:r>
          </a:p>
          <a:p>
            <a:pPr>
              <a:spcBef>
                <a:spcPts val="600"/>
              </a:spcBef>
              <a:defRPr sz="1000">
                <a:solidFill>
                  <a:srgbClr val="0E1713"/>
                </a:solidFill>
                <a:latin typeface="Segoe UI"/>
              </a:defRPr>
            </a:pPr>
            <a:r>
              <a:t>• Multi-curve visualization: Unhedged vs Hedged</a:t>
            </a:r>
          </a:p>
          <a:p>
            <a:pPr>
              <a:spcBef>
                <a:spcPts val="600"/>
              </a:spcBef>
              <a:defRPr sz="1000">
                <a:solidFill>
                  <a:srgbClr val="0E1713"/>
                </a:solidFill>
                <a:latin typeface="Segoe UI"/>
              </a:defRPr>
            </a:pPr>
            <a:r>
              <a:t>• Downside floor vs Capped upside collar visualization</a:t>
            </a:r>
          </a:p>
          <a:p>
            <a:pPr>
              <a:spcBef>
                <a:spcPts val="600"/>
              </a:spcBef>
              <a:defRPr sz="1000">
                <a:solidFill>
                  <a:srgbClr val="0E1713"/>
                </a:solidFill>
                <a:latin typeface="Segoe UI"/>
              </a:defRPr>
            </a:pPr>
            <a:r>
              <a:t>• Interactive spot price slider &amp; breakeven marker</a:t>
            </a:r>
          </a:p>
          <a:p>
            <a:pPr>
              <a:spcBef>
                <a:spcPts val="600"/>
              </a:spcBef>
              <a:defRPr sz="1000">
                <a:solidFill>
                  <a:srgbClr val="0E1713"/>
                </a:solidFill>
                <a:latin typeface="Segoe UI"/>
              </a:defRPr>
            </a:pPr>
            <a:r>
              <a:t>• Real-time contract payoff expiration modeling</a:t>
            </a:r>
          </a:p>
        </p:txBody>
      </p:sp>
      <p:sp>
        <p:nvSpPr>
          <p:cNvPr id="13" name="Rectangle 12"/>
          <p:cNvSpPr/>
          <p:nvPr/>
        </p:nvSpPr>
        <p:spPr>
          <a:xfrm>
            <a:off x="6236208" y="1783080"/>
            <a:ext cx="2450592" cy="3931920"/>
          </a:xfrm>
          <a:prstGeom prst="rect">
            <a:avLst/>
          </a:prstGeom>
          <a:solidFill>
            <a:srgbClr val="FFFFFF"/>
          </a:solidFill>
          <a:ln w="12700">
            <a:solidFill>
              <a:srgbClr val="CCD8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236208" y="1783080"/>
            <a:ext cx="2450592" cy="3657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73368" y="1920240"/>
            <a:ext cx="2176272" cy="3657600"/>
          </a:xfrm>
          <a:prstGeom prst="rect">
            <a:avLst/>
          </a:prstGeom>
          <a:noFill/>
        </p:spPr>
        <p:txBody>
          <a:bodyPr wrap="square" lIns="0" tIns="0" rIns="0" bIns="0">
            <a:spAutoFit/>
          </a:bodyPr>
          <a:lstStyle/>
          <a:p>
            <a:pPr>
              <a:defRPr sz="1100" b="1">
                <a:solidFill>
                  <a:srgbClr val="0D9488"/>
                </a:solidFill>
                <a:latin typeface="Consolas"/>
              </a:defRPr>
            </a:pPr>
            <a:r>
              <a:t>LIVE GREEKS MATRIX</a:t>
            </a:r>
          </a:p>
          <a:p>
            <a:pPr>
              <a:spcBef>
                <a:spcPts val="300"/>
              </a:spcBef>
              <a:defRPr sz="1300" b="1">
                <a:solidFill>
                  <a:srgbClr val="1B4332"/>
                </a:solidFill>
                <a:latin typeface="Georgia"/>
              </a:defRPr>
            </a:pPr>
            <a:r>
              <a:t>Second-Order Sensitivities</a:t>
            </a:r>
          </a:p>
          <a:p>
            <a:pPr>
              <a:spcBef>
                <a:spcPts val="600"/>
              </a:spcBef>
              <a:defRPr sz="1000">
                <a:solidFill>
                  <a:srgbClr val="0E1713"/>
                </a:solidFill>
                <a:latin typeface="Segoe UI"/>
              </a:defRPr>
            </a:pPr>
            <a:r>
              <a:t>• Portfolio Delta (Δ): Net directional dollar exposure</a:t>
            </a:r>
          </a:p>
          <a:p>
            <a:pPr>
              <a:spcBef>
                <a:spcPts val="600"/>
              </a:spcBef>
              <a:defRPr sz="1000">
                <a:solidFill>
                  <a:srgbClr val="0E1713"/>
                </a:solidFill>
                <a:latin typeface="Segoe UI"/>
              </a:defRPr>
            </a:pPr>
            <a:r>
              <a:t>• Gamma (Γ): Rate of delta acceleration</a:t>
            </a:r>
          </a:p>
          <a:p>
            <a:pPr>
              <a:spcBef>
                <a:spcPts val="600"/>
              </a:spcBef>
              <a:defRPr sz="1000">
                <a:solidFill>
                  <a:srgbClr val="0E1713"/>
                </a:solidFill>
                <a:latin typeface="Segoe UI"/>
              </a:defRPr>
            </a:pPr>
            <a:r>
              <a:t>• Theta (Θ): Daily time decay dollar cost</a:t>
            </a:r>
          </a:p>
          <a:p>
            <a:pPr>
              <a:spcBef>
                <a:spcPts val="600"/>
              </a:spcBef>
              <a:defRPr sz="1000">
                <a:solidFill>
                  <a:srgbClr val="0E1713"/>
                </a:solidFill>
                <a:latin typeface="Segoe UI"/>
              </a:defRPr>
            </a:pPr>
            <a:r>
              <a:t>• Vega (ν): Volatility shift sensitivity</a:t>
            </a:r>
          </a:p>
        </p:txBody>
      </p:sp>
      <p:sp>
        <p:nvSpPr>
          <p:cNvPr id="16" name="Rectangle 15"/>
          <p:cNvSpPr/>
          <p:nvPr/>
        </p:nvSpPr>
        <p:spPr>
          <a:xfrm>
            <a:off x="8988552" y="1783080"/>
            <a:ext cx="2450592" cy="3931920"/>
          </a:xfrm>
          <a:prstGeom prst="rect">
            <a:avLst/>
          </a:prstGeom>
          <a:solidFill>
            <a:srgbClr val="FFFFFF"/>
          </a:solidFill>
          <a:ln w="12700">
            <a:solidFill>
              <a:srgbClr val="CCD8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988552" y="1783080"/>
            <a:ext cx="2450592" cy="36576"/>
          </a:xfrm>
          <a:prstGeom prst="rect">
            <a:avLst/>
          </a:prstGeom>
          <a:solidFill>
            <a:srgbClr val="0E17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25712" y="1920240"/>
            <a:ext cx="2176272" cy="3657600"/>
          </a:xfrm>
          <a:prstGeom prst="rect">
            <a:avLst/>
          </a:prstGeom>
          <a:noFill/>
        </p:spPr>
        <p:txBody>
          <a:bodyPr wrap="square" lIns="0" tIns="0" rIns="0" bIns="0">
            <a:spAutoFit/>
          </a:bodyPr>
          <a:lstStyle/>
          <a:p>
            <a:pPr>
              <a:defRPr sz="1100" b="1">
                <a:solidFill>
                  <a:srgbClr val="0E1713"/>
                </a:solidFill>
                <a:latin typeface="Consolas"/>
              </a:defRPr>
            </a:pPr>
            <a:r>
              <a:t>AUDITABLE DECISION TRAIL</a:t>
            </a:r>
          </a:p>
          <a:p>
            <a:pPr>
              <a:spcBef>
                <a:spcPts val="300"/>
              </a:spcBef>
              <a:defRPr sz="1300" b="1">
                <a:solidFill>
                  <a:srgbClr val="1B4332"/>
                </a:solidFill>
                <a:latin typeface="Georgia"/>
              </a:defRPr>
            </a:pPr>
            <a:r>
              <a:t>Full Regulatory &amp; Judge Transparency</a:t>
            </a:r>
          </a:p>
          <a:p>
            <a:pPr>
              <a:spcBef>
                <a:spcPts val="600"/>
              </a:spcBef>
              <a:defRPr sz="1000">
                <a:solidFill>
                  <a:srgbClr val="0E1713"/>
                </a:solidFill>
                <a:latin typeface="Segoe UI"/>
              </a:defRPr>
            </a:pPr>
            <a:r>
              <a:t>• Chronological log of every agent reasoning step</a:t>
            </a:r>
          </a:p>
          <a:p>
            <a:pPr>
              <a:spcBef>
                <a:spcPts val="600"/>
              </a:spcBef>
              <a:defRPr sz="1000">
                <a:solidFill>
                  <a:srgbClr val="0E1713"/>
                </a:solidFill>
                <a:latin typeface="Segoe UI"/>
              </a:defRPr>
            </a:pPr>
            <a:r>
              <a:t>• Side-by-side strategy score comparison table</a:t>
            </a:r>
          </a:p>
          <a:p>
            <a:pPr>
              <a:spcBef>
                <a:spcPts val="600"/>
              </a:spcBef>
              <a:defRPr sz="1000">
                <a:solidFill>
                  <a:srgbClr val="0E1713"/>
                </a:solidFill>
                <a:latin typeface="Segoe UI"/>
              </a:defRPr>
            </a:pPr>
            <a:r>
              <a:t>• Risk Gate approval/modification audit checklist</a:t>
            </a:r>
          </a:p>
          <a:p>
            <a:pPr>
              <a:spcBef>
                <a:spcPts val="600"/>
              </a:spcBef>
              <a:defRPr sz="1000">
                <a:solidFill>
                  <a:srgbClr val="0E1713"/>
                </a:solidFill>
                <a:latin typeface="Segoe UI"/>
              </a:defRPr>
            </a:pPr>
            <a:r>
              <a:t>• Direct links to Alpaca order IDs and fill timestamps</a:t>
            </a:r>
          </a:p>
        </p:txBody>
      </p:sp>
      <p:sp>
        <p:nvSpPr>
          <p:cNvPr id="19" name="Rectangle 18"/>
          <p:cNvSpPr/>
          <p:nvPr/>
        </p:nvSpPr>
        <p:spPr>
          <a:xfrm>
            <a:off x="731520" y="5852160"/>
            <a:ext cx="10728655" cy="594360"/>
          </a:xfrm>
          <a:prstGeom prst="rect">
            <a:avLst/>
          </a:prstGeom>
          <a:solidFill>
            <a:srgbClr val="EAF1EE"/>
          </a:solidFill>
          <a:ln w="12700">
            <a:solidFill>
              <a:srgbClr val="CCD8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4400" y="5897880"/>
            <a:ext cx="10332720" cy="502920"/>
          </a:xfrm>
          <a:prstGeom prst="rect">
            <a:avLst/>
          </a:prstGeom>
          <a:noFill/>
        </p:spPr>
        <p:txBody>
          <a:bodyPr wrap="square">
            <a:spAutoFit/>
          </a:bodyPr>
          <a:lstStyle/>
          <a:p>
            <a:pPr>
              <a:defRPr sz="1000" b="1">
                <a:solidFill>
                  <a:srgbClr val="1B4332"/>
                </a:solidFill>
                <a:latin typeface="Consolas"/>
              </a:defRPr>
            </a:pPr>
            <a:r>
              <a:t>DESIGN SYSTEM: Built with React 18, TypeScript, Tailwind CSS, Playfair Display (Serif), and JetBrains Mono (non-jittering tabular financial figures).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5"/>
          </a:solidFill>
          <a:ln>
            <a:solidFill>
              <a:srgbClr val="F4F7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65760"/>
            <a:ext cx="10728655" cy="36576"/>
          </a:xfrm>
          <a:prstGeom prst="rect">
            <a:avLst/>
          </a:prstGeom>
          <a:solidFill>
            <a:srgbClr val="A67C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502920"/>
            <a:ext cx="7315200" cy="320040"/>
          </a:xfrm>
          <a:prstGeom prst="rect">
            <a:avLst/>
          </a:prstGeom>
          <a:noFill/>
        </p:spPr>
        <p:txBody>
          <a:bodyPr wrap="square" lIns="0" tIns="0" rIns="0" bIns="0">
            <a:spAutoFit/>
          </a:bodyPr>
          <a:lstStyle/>
          <a:p>
            <a:pPr>
              <a:defRPr sz="1000" b="1">
                <a:solidFill>
                  <a:srgbClr val="A67C37"/>
                </a:solidFill>
                <a:latin typeface="Consolas"/>
              </a:defRPr>
            </a:pPr>
            <a:r>
              <a:t>DEMO SCENARIO</a:t>
            </a:r>
          </a:p>
        </p:txBody>
      </p:sp>
      <p:sp>
        <p:nvSpPr>
          <p:cNvPr id="5" name="TextBox 4"/>
          <p:cNvSpPr txBox="1"/>
          <p:nvPr/>
        </p:nvSpPr>
        <p:spPr>
          <a:xfrm>
            <a:off x="731520" y="777240"/>
            <a:ext cx="9144000" cy="594360"/>
          </a:xfrm>
          <a:prstGeom prst="rect">
            <a:avLst/>
          </a:prstGeom>
          <a:noFill/>
        </p:spPr>
        <p:txBody>
          <a:bodyPr wrap="square" lIns="0" tIns="0" rIns="0" bIns="0">
            <a:spAutoFit/>
          </a:bodyPr>
          <a:lstStyle/>
          <a:p>
            <a:pPr>
              <a:defRPr sz="2400" b="1">
                <a:solidFill>
                  <a:srgbClr val="1B4332"/>
                </a:solidFill>
                <a:latin typeface="Georgia"/>
              </a:defRPr>
            </a:pPr>
            <a:r>
              <a:t>The 8-Scene Golden Narrative Replay</a:t>
            </a:r>
          </a:p>
        </p:txBody>
      </p:sp>
      <p:sp>
        <p:nvSpPr>
          <p:cNvPr id="6" name="TextBox 5"/>
          <p:cNvSpPr txBox="1"/>
          <p:nvPr/>
        </p:nvSpPr>
        <p:spPr>
          <a:xfrm>
            <a:off x="731520" y="1353312"/>
            <a:ext cx="10698480" cy="320040"/>
          </a:xfrm>
          <a:prstGeom prst="rect">
            <a:avLst/>
          </a:prstGeom>
          <a:noFill/>
        </p:spPr>
        <p:txBody>
          <a:bodyPr wrap="square" lIns="0" tIns="0" rIns="0" bIns="0">
            <a:spAutoFit/>
          </a:bodyPr>
          <a:lstStyle/>
          <a:p>
            <a:pPr>
              <a:defRPr sz="1200">
                <a:solidFill>
                  <a:srgbClr val="52665C"/>
                </a:solidFill>
                <a:latin typeface="Segoe UI"/>
              </a:defRPr>
            </a:pPr>
            <a:r>
              <a:t>Our deterministic test replay engine proves the complete autonomous cycle from market shock to de-hedging.</a:t>
            </a:r>
          </a:p>
        </p:txBody>
      </p:sp>
      <p:sp>
        <p:nvSpPr>
          <p:cNvPr id="7" name="Rectangle 6"/>
          <p:cNvSpPr/>
          <p:nvPr/>
        </p:nvSpPr>
        <p:spPr>
          <a:xfrm>
            <a:off x="731520" y="1783080"/>
            <a:ext cx="5120640" cy="868680"/>
          </a:xfrm>
          <a:prstGeom prst="rect">
            <a:avLst/>
          </a:prstGeom>
          <a:solidFill>
            <a:srgbClr val="FFFFFF"/>
          </a:solidFill>
          <a:ln w="12700">
            <a:solidFill>
              <a:srgbClr val="CCD8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783080"/>
            <a:ext cx="5120640" cy="36576"/>
          </a:xfrm>
          <a:prstGeom prst="rect">
            <a:avLst/>
          </a:prstGeom>
          <a:solidFill>
            <a:srgbClr val="1B4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1874519"/>
            <a:ext cx="4846320" cy="731520"/>
          </a:xfrm>
          <a:prstGeom prst="rect">
            <a:avLst/>
          </a:prstGeom>
          <a:noFill/>
        </p:spPr>
        <p:txBody>
          <a:bodyPr wrap="square" lIns="0" tIns="0" rIns="0" bIns="0">
            <a:spAutoFit/>
          </a:bodyPr>
          <a:lstStyle/>
          <a:p>
            <a:pPr>
              <a:defRPr sz="1100" b="1">
                <a:solidFill>
                  <a:srgbClr val="1B4332"/>
                </a:solidFill>
                <a:latin typeface="Consolas"/>
              </a:defRPr>
            </a:pPr>
            <a:r>
              <a:t>1. Baseline State</a:t>
            </a:r>
          </a:p>
          <a:p>
            <a:pPr>
              <a:spcBef>
                <a:spcPts val="200"/>
              </a:spcBef>
              <a:defRPr sz="1000">
                <a:solidFill>
                  <a:srgbClr val="0E1713"/>
                </a:solidFill>
                <a:latin typeface="Segoe UI"/>
              </a:defRPr>
            </a:pPr>
            <a:r>
              <a:t>Healthy tech portfolio ($100k), VIX low at 14.2, hedge ratio 0%, No-Hedge active.</a:t>
            </a:r>
          </a:p>
        </p:txBody>
      </p:sp>
      <p:sp>
        <p:nvSpPr>
          <p:cNvPr id="10" name="Rectangle 9"/>
          <p:cNvSpPr/>
          <p:nvPr/>
        </p:nvSpPr>
        <p:spPr>
          <a:xfrm>
            <a:off x="731520" y="2743200"/>
            <a:ext cx="5120640" cy="868680"/>
          </a:xfrm>
          <a:prstGeom prst="rect">
            <a:avLst/>
          </a:prstGeom>
          <a:solidFill>
            <a:srgbClr val="BE123C"/>
          </a:solidFill>
          <a:ln w="12700">
            <a:solidFill>
              <a:srgbClr val="CCD8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2743200"/>
            <a:ext cx="5120640" cy="36576"/>
          </a:xfrm>
          <a:prstGeom prst="rect">
            <a:avLst/>
          </a:prstGeom>
          <a:solidFill>
            <a:srgbClr val="1B4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68680" y="2834640"/>
            <a:ext cx="4846320" cy="731520"/>
          </a:xfrm>
          <a:prstGeom prst="rect">
            <a:avLst/>
          </a:prstGeom>
          <a:noFill/>
        </p:spPr>
        <p:txBody>
          <a:bodyPr wrap="square" lIns="0" tIns="0" rIns="0" bIns="0">
            <a:spAutoFit/>
          </a:bodyPr>
          <a:lstStyle/>
          <a:p>
            <a:pPr>
              <a:defRPr sz="1100" b="1">
                <a:solidFill>
                  <a:srgbClr val="1B4332"/>
                </a:solidFill>
                <a:latin typeface="Consolas"/>
              </a:defRPr>
            </a:pPr>
            <a:r>
              <a:t>2. Volatility Shock</a:t>
            </a:r>
          </a:p>
          <a:p>
            <a:pPr>
              <a:spcBef>
                <a:spcPts val="200"/>
              </a:spcBef>
              <a:defRPr sz="1000">
                <a:solidFill>
                  <a:srgbClr val="0E1713"/>
                </a:solidFill>
                <a:latin typeface="Segoe UI"/>
              </a:defRPr>
            </a:pPr>
            <a:r>
              <a:t>Tech sell-off starts; portfolio drawdown reaches 3.8%, VIX jumps to 26.5.</a:t>
            </a:r>
          </a:p>
        </p:txBody>
      </p:sp>
      <p:sp>
        <p:nvSpPr>
          <p:cNvPr id="13" name="Rectangle 12"/>
          <p:cNvSpPr/>
          <p:nvPr/>
        </p:nvSpPr>
        <p:spPr>
          <a:xfrm>
            <a:off x="731520" y="3703320"/>
            <a:ext cx="5120640" cy="868680"/>
          </a:xfrm>
          <a:prstGeom prst="rect">
            <a:avLst/>
          </a:prstGeom>
          <a:solidFill>
            <a:srgbClr val="FFFFFF"/>
          </a:solidFill>
          <a:ln w="12700">
            <a:solidFill>
              <a:srgbClr val="CCD8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31520" y="3703320"/>
            <a:ext cx="5120640" cy="36576"/>
          </a:xfrm>
          <a:prstGeom prst="rect">
            <a:avLst/>
          </a:prstGeom>
          <a:solidFill>
            <a:srgbClr val="1B4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68680" y="3794759"/>
            <a:ext cx="4846320" cy="731520"/>
          </a:xfrm>
          <a:prstGeom prst="rect">
            <a:avLst/>
          </a:prstGeom>
          <a:noFill/>
        </p:spPr>
        <p:txBody>
          <a:bodyPr wrap="square" lIns="0" tIns="0" rIns="0" bIns="0">
            <a:spAutoFit/>
          </a:bodyPr>
          <a:lstStyle/>
          <a:p>
            <a:pPr>
              <a:defRPr sz="1100" b="1">
                <a:solidFill>
                  <a:srgbClr val="1B4332"/>
                </a:solidFill>
                <a:latin typeface="Consolas"/>
              </a:defRPr>
            </a:pPr>
            <a:r>
              <a:t>3. Ingestion Phase</a:t>
            </a:r>
          </a:p>
          <a:p>
            <a:pPr>
              <a:spcBef>
                <a:spcPts val="200"/>
              </a:spcBef>
              <a:defRPr sz="1000">
                <a:solidFill>
                  <a:srgbClr val="0E1713"/>
                </a:solidFill>
                <a:latin typeface="Segoe UI"/>
              </a:defRPr>
            </a:pPr>
            <a:r>
              <a:t>5 Ingestion agents gather telemetry; standardized HedgeContext assembled.</a:t>
            </a:r>
          </a:p>
        </p:txBody>
      </p:sp>
      <p:sp>
        <p:nvSpPr>
          <p:cNvPr id="16" name="Rectangle 15"/>
          <p:cNvSpPr/>
          <p:nvPr/>
        </p:nvSpPr>
        <p:spPr>
          <a:xfrm>
            <a:off x="731520" y="4663440"/>
            <a:ext cx="5120640" cy="868680"/>
          </a:xfrm>
          <a:prstGeom prst="rect">
            <a:avLst/>
          </a:prstGeom>
          <a:solidFill>
            <a:srgbClr val="FFFFFF"/>
          </a:solidFill>
          <a:ln w="12700">
            <a:solidFill>
              <a:srgbClr val="CCD8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31520" y="4663440"/>
            <a:ext cx="5120640" cy="36576"/>
          </a:xfrm>
          <a:prstGeom prst="rect">
            <a:avLst/>
          </a:prstGeom>
          <a:solidFill>
            <a:srgbClr val="1B4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68680" y="4754880"/>
            <a:ext cx="4846320" cy="731520"/>
          </a:xfrm>
          <a:prstGeom prst="rect">
            <a:avLst/>
          </a:prstGeom>
          <a:noFill/>
        </p:spPr>
        <p:txBody>
          <a:bodyPr wrap="square" lIns="0" tIns="0" rIns="0" bIns="0">
            <a:spAutoFit/>
          </a:bodyPr>
          <a:lstStyle/>
          <a:p>
            <a:pPr>
              <a:defRPr sz="1100" b="1">
                <a:solidFill>
                  <a:srgbClr val="1B4332"/>
                </a:solidFill>
                <a:latin typeface="Consolas"/>
              </a:defRPr>
            </a:pPr>
            <a:r>
              <a:t>4. Strategy Arena</a:t>
            </a:r>
          </a:p>
          <a:p>
            <a:pPr>
              <a:spcBef>
                <a:spcPts val="200"/>
              </a:spcBef>
              <a:defRPr sz="1000">
                <a:solidFill>
                  <a:srgbClr val="0E1713"/>
                </a:solidFill>
                <a:latin typeface="Segoe UI"/>
              </a:defRPr>
            </a:pPr>
            <a:r>
              <a:t>4 agents formulate hypotheses: Put, Put Spread, Collar, and No-Hedge.</a:t>
            </a:r>
          </a:p>
        </p:txBody>
      </p:sp>
      <p:sp>
        <p:nvSpPr>
          <p:cNvPr id="19" name="Rectangle 18"/>
          <p:cNvSpPr/>
          <p:nvPr/>
        </p:nvSpPr>
        <p:spPr>
          <a:xfrm>
            <a:off x="6339535" y="1783080"/>
            <a:ext cx="5120640" cy="868680"/>
          </a:xfrm>
          <a:prstGeom prst="rect">
            <a:avLst/>
          </a:prstGeom>
          <a:solidFill>
            <a:srgbClr val="FFFFFF"/>
          </a:solidFill>
          <a:ln w="12700">
            <a:solidFill>
              <a:srgbClr val="CCD8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339535" y="1783080"/>
            <a:ext cx="5120640" cy="36576"/>
          </a:xfrm>
          <a:prstGeom prst="rect">
            <a:avLst/>
          </a:prstGeom>
          <a:solidFill>
            <a:srgbClr val="1B4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76695" y="1874519"/>
            <a:ext cx="4846320" cy="731520"/>
          </a:xfrm>
          <a:prstGeom prst="rect">
            <a:avLst/>
          </a:prstGeom>
          <a:noFill/>
        </p:spPr>
        <p:txBody>
          <a:bodyPr wrap="square" lIns="0" tIns="0" rIns="0" bIns="0">
            <a:spAutoFit/>
          </a:bodyPr>
          <a:lstStyle/>
          <a:p>
            <a:pPr>
              <a:defRPr sz="1100" b="1">
                <a:solidFill>
                  <a:srgbClr val="1B4332"/>
                </a:solidFill>
                <a:latin typeface="Consolas"/>
              </a:defRPr>
            </a:pPr>
            <a:r>
              <a:t>5. Strategy Selection</a:t>
            </a:r>
          </a:p>
          <a:p>
            <a:pPr>
              <a:spcBef>
                <a:spcPts val="200"/>
              </a:spcBef>
              <a:defRPr sz="1000">
                <a:solidFill>
                  <a:srgbClr val="0E1713"/>
                </a:solidFill>
                <a:latin typeface="Segoe UI"/>
              </a:defRPr>
            </a:pPr>
            <a:r>
              <a:t>Put Spread wins: optimal balance of downside protection, budget, and upside.</a:t>
            </a:r>
          </a:p>
        </p:txBody>
      </p:sp>
      <p:sp>
        <p:nvSpPr>
          <p:cNvPr id="22" name="Rectangle 21"/>
          <p:cNvSpPr/>
          <p:nvPr/>
        </p:nvSpPr>
        <p:spPr>
          <a:xfrm>
            <a:off x="6339535" y="2743200"/>
            <a:ext cx="5120640" cy="868680"/>
          </a:xfrm>
          <a:prstGeom prst="rect">
            <a:avLst/>
          </a:prstGeom>
          <a:solidFill>
            <a:srgbClr val="FFFFFF"/>
          </a:solidFill>
          <a:ln w="12700">
            <a:solidFill>
              <a:srgbClr val="CCD8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339535" y="2743200"/>
            <a:ext cx="5120640" cy="36576"/>
          </a:xfrm>
          <a:prstGeom prst="rect">
            <a:avLst/>
          </a:prstGeom>
          <a:solidFill>
            <a:srgbClr val="1B4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76695" y="2834640"/>
            <a:ext cx="4846320" cy="731520"/>
          </a:xfrm>
          <a:prstGeom prst="rect">
            <a:avLst/>
          </a:prstGeom>
          <a:noFill/>
        </p:spPr>
        <p:txBody>
          <a:bodyPr wrap="square" lIns="0" tIns="0" rIns="0" bIns="0">
            <a:spAutoFit/>
          </a:bodyPr>
          <a:lstStyle/>
          <a:p>
            <a:pPr>
              <a:defRPr sz="1100" b="1">
                <a:solidFill>
                  <a:srgbClr val="1B4332"/>
                </a:solidFill>
                <a:latin typeface="Consolas"/>
              </a:defRPr>
            </a:pPr>
            <a:r>
              <a:t>6. Risk Gate Pass</a:t>
            </a:r>
          </a:p>
          <a:p>
            <a:pPr>
              <a:spcBef>
                <a:spcPts val="200"/>
              </a:spcBef>
              <a:defRPr sz="1000">
                <a:solidFill>
                  <a:srgbClr val="0E1713"/>
                </a:solidFill>
                <a:latin typeface="Segoe UI"/>
              </a:defRPr>
            </a:pPr>
            <a:r>
              <a:t>Risk checks Greeks, cash budget ($1,250 cap), liquidity, and verifies buying power.</a:t>
            </a:r>
          </a:p>
        </p:txBody>
      </p:sp>
      <p:sp>
        <p:nvSpPr>
          <p:cNvPr id="25" name="Rectangle 24"/>
          <p:cNvSpPr/>
          <p:nvPr/>
        </p:nvSpPr>
        <p:spPr>
          <a:xfrm>
            <a:off x="6339535" y="3703320"/>
            <a:ext cx="5120640" cy="868680"/>
          </a:xfrm>
          <a:prstGeom prst="rect">
            <a:avLst/>
          </a:prstGeom>
          <a:solidFill>
            <a:srgbClr val="FFFFFF"/>
          </a:solidFill>
          <a:ln w="12700">
            <a:solidFill>
              <a:srgbClr val="CCD8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339535" y="3703320"/>
            <a:ext cx="5120640" cy="36576"/>
          </a:xfrm>
          <a:prstGeom prst="rect">
            <a:avLst/>
          </a:prstGeom>
          <a:solidFill>
            <a:srgbClr val="1B4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76695" y="3794759"/>
            <a:ext cx="4846320" cy="731520"/>
          </a:xfrm>
          <a:prstGeom prst="rect">
            <a:avLst/>
          </a:prstGeom>
          <a:noFill/>
        </p:spPr>
        <p:txBody>
          <a:bodyPr wrap="square" lIns="0" tIns="0" rIns="0" bIns="0">
            <a:spAutoFit/>
          </a:bodyPr>
          <a:lstStyle/>
          <a:p>
            <a:pPr>
              <a:defRPr sz="1100" b="1">
                <a:solidFill>
                  <a:srgbClr val="1B4332"/>
                </a:solidFill>
                <a:latin typeface="Consolas"/>
              </a:defRPr>
            </a:pPr>
            <a:r>
              <a:t>7. Alpaca Execution</a:t>
            </a:r>
          </a:p>
          <a:p>
            <a:pPr>
              <a:spcBef>
                <a:spcPts val="200"/>
              </a:spcBef>
              <a:defRPr sz="1000">
                <a:solidFill>
                  <a:srgbClr val="0E1713"/>
                </a:solidFill>
                <a:latin typeface="Segoe UI"/>
              </a:defRPr>
            </a:pPr>
            <a:r>
              <a:t>Multi-leg order sent via Alpaca API; both legs fill atomically with logged slippage.</a:t>
            </a:r>
          </a:p>
        </p:txBody>
      </p:sp>
      <p:sp>
        <p:nvSpPr>
          <p:cNvPr id="28" name="Rectangle 27"/>
          <p:cNvSpPr/>
          <p:nvPr/>
        </p:nvSpPr>
        <p:spPr>
          <a:xfrm>
            <a:off x="6339535" y="4663440"/>
            <a:ext cx="5120640" cy="868680"/>
          </a:xfrm>
          <a:prstGeom prst="rect">
            <a:avLst/>
          </a:prstGeom>
          <a:solidFill>
            <a:srgbClr val="15803D"/>
          </a:solidFill>
          <a:ln w="12700">
            <a:solidFill>
              <a:srgbClr val="CCD8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339535" y="4663440"/>
            <a:ext cx="5120640" cy="36576"/>
          </a:xfrm>
          <a:prstGeom prst="rect">
            <a:avLst/>
          </a:prstGeom>
          <a:solidFill>
            <a:srgbClr val="1B4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76695" y="4754880"/>
            <a:ext cx="4846320" cy="731520"/>
          </a:xfrm>
          <a:prstGeom prst="rect">
            <a:avLst/>
          </a:prstGeom>
          <a:noFill/>
        </p:spPr>
        <p:txBody>
          <a:bodyPr wrap="square" lIns="0" tIns="0" rIns="0" bIns="0">
            <a:spAutoFit/>
          </a:bodyPr>
          <a:lstStyle/>
          <a:p>
            <a:pPr>
              <a:defRPr sz="1100" b="1">
                <a:solidFill>
                  <a:srgbClr val="1B4332"/>
                </a:solidFill>
                <a:latin typeface="Consolas"/>
              </a:defRPr>
            </a:pPr>
            <a:r>
              <a:t>8. Market Recovery</a:t>
            </a:r>
          </a:p>
          <a:p>
            <a:pPr>
              <a:spcBef>
                <a:spcPts val="200"/>
              </a:spcBef>
              <a:defRPr sz="1000">
                <a:solidFill>
                  <a:srgbClr val="0E1713"/>
                </a:solidFill>
                <a:latin typeface="Segoe UI"/>
              </a:defRPr>
            </a:pPr>
            <a:r>
              <a:t>Market rallies; drift detected; agent autonomously executes DECREASE to lock gains!</a:t>
            </a:r>
          </a:p>
        </p:txBody>
      </p:sp>
      <p:sp>
        <p:nvSpPr>
          <p:cNvPr id="31" name="Rectangle 30"/>
          <p:cNvSpPr/>
          <p:nvPr/>
        </p:nvSpPr>
        <p:spPr>
          <a:xfrm>
            <a:off x="731520" y="5852160"/>
            <a:ext cx="10728655" cy="594360"/>
          </a:xfrm>
          <a:prstGeom prst="rect">
            <a:avLst/>
          </a:prstGeom>
          <a:solidFill>
            <a:srgbClr val="EAF1EE"/>
          </a:solidFill>
          <a:ln w="12700">
            <a:solidFill>
              <a:srgbClr val="CCD8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14400" y="5897880"/>
            <a:ext cx="10332720" cy="502920"/>
          </a:xfrm>
          <a:prstGeom prst="rect">
            <a:avLst/>
          </a:prstGeom>
          <a:noFill/>
        </p:spPr>
        <p:txBody>
          <a:bodyPr wrap="square">
            <a:spAutoFit/>
          </a:bodyPr>
          <a:lstStyle/>
          <a:p>
            <a:pPr>
              <a:defRPr sz="1000" b="1">
                <a:solidFill>
                  <a:srgbClr val="1B4332"/>
                </a:solidFill>
                <a:latin typeface="Consolas"/>
              </a:defRPr>
            </a:pPr>
            <a:r>
              <a:t>REPRODUCIBILITY: Run `make demo-restore` or `python -m backend.demo_replay` to deterministically replay the full 8-scene sequence in your local environment.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5"/>
          </a:solidFill>
          <a:ln>
            <a:solidFill>
              <a:srgbClr val="F4F7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65760"/>
            <a:ext cx="10728655" cy="36576"/>
          </a:xfrm>
          <a:prstGeom prst="rect">
            <a:avLst/>
          </a:prstGeom>
          <a:solidFill>
            <a:srgbClr val="A67C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502920"/>
            <a:ext cx="7315200" cy="320040"/>
          </a:xfrm>
          <a:prstGeom prst="rect">
            <a:avLst/>
          </a:prstGeom>
          <a:noFill/>
        </p:spPr>
        <p:txBody>
          <a:bodyPr wrap="square" lIns="0" tIns="0" rIns="0" bIns="0">
            <a:spAutoFit/>
          </a:bodyPr>
          <a:lstStyle/>
          <a:p>
            <a:pPr>
              <a:defRPr sz="1000" b="1">
                <a:solidFill>
                  <a:srgbClr val="A67C37"/>
                </a:solidFill>
                <a:latin typeface="Consolas"/>
              </a:defRPr>
            </a:pPr>
            <a:r>
              <a:t>ENGINEERING ARCHITECTURE</a:t>
            </a:r>
          </a:p>
        </p:txBody>
      </p:sp>
      <p:sp>
        <p:nvSpPr>
          <p:cNvPr id="5" name="TextBox 4"/>
          <p:cNvSpPr txBox="1"/>
          <p:nvPr/>
        </p:nvSpPr>
        <p:spPr>
          <a:xfrm>
            <a:off x="731520" y="777240"/>
            <a:ext cx="9144000" cy="594360"/>
          </a:xfrm>
          <a:prstGeom prst="rect">
            <a:avLst/>
          </a:prstGeom>
          <a:noFill/>
        </p:spPr>
        <p:txBody>
          <a:bodyPr wrap="square" lIns="0" tIns="0" rIns="0" bIns="0">
            <a:spAutoFit/>
          </a:bodyPr>
          <a:lstStyle/>
          <a:p>
            <a:pPr>
              <a:defRPr sz="2400" b="1">
                <a:solidFill>
                  <a:srgbClr val="1B4332"/>
                </a:solidFill>
                <a:latin typeface="Georgia"/>
              </a:defRPr>
            </a:pPr>
            <a:r>
              <a:t>Production Technology Stack &amp; Quantitative Models</a:t>
            </a:r>
          </a:p>
        </p:txBody>
      </p:sp>
      <p:sp>
        <p:nvSpPr>
          <p:cNvPr id="6" name="TextBox 5"/>
          <p:cNvSpPr txBox="1"/>
          <p:nvPr/>
        </p:nvSpPr>
        <p:spPr>
          <a:xfrm>
            <a:off x="731520" y="1353312"/>
            <a:ext cx="10698480" cy="320040"/>
          </a:xfrm>
          <a:prstGeom prst="rect">
            <a:avLst/>
          </a:prstGeom>
          <a:noFill/>
        </p:spPr>
        <p:txBody>
          <a:bodyPr wrap="square" lIns="0" tIns="0" rIns="0" bIns="0">
            <a:spAutoFit/>
          </a:bodyPr>
          <a:lstStyle/>
          <a:p>
            <a:pPr>
              <a:defRPr sz="1200">
                <a:solidFill>
                  <a:srgbClr val="52665C"/>
                </a:solidFill>
                <a:latin typeface="Segoe UI"/>
              </a:defRPr>
            </a:pPr>
            <a:r>
              <a:t>A robust, type-safe system built with high-concurrency Python, LangGraph, and PostgreSQL.</a:t>
            </a:r>
          </a:p>
        </p:txBody>
      </p:sp>
      <p:graphicFrame>
        <p:nvGraphicFramePr>
          <p:cNvPr id="7" name="Table 6"/>
          <p:cNvGraphicFramePr>
            <a:graphicFrameLocks noGrp="1"/>
          </p:cNvGraphicFramePr>
          <p:nvPr/>
        </p:nvGraphicFramePr>
        <p:xfrm>
          <a:off x="731520" y="1783080"/>
          <a:ext cx="10728655" cy="3931920"/>
        </p:xfrm>
        <a:graphic>
          <a:graphicData uri="http://schemas.openxmlformats.org/drawingml/2006/table">
            <a:tbl>
              <a:tblPr firstRow="1" bandRow="1">
                <a:tableStyleId>{5C22544A-7EE6-4342-B048-85BDC9FD1C3A}</a:tableStyleId>
              </a:tblPr>
              <a:tblGrid>
                <a:gridCol w="2926080">
                  <a:extLst>
                    <a:ext uri="{9D8B030D-6E8A-4147-A177-3AD203B41FA5}">
                      <a16:colId xmlns:a16="http://schemas.microsoft.com/office/drawing/2014/main" val="20000"/>
                    </a:ext>
                  </a:extLst>
                </a:gridCol>
                <a:gridCol w="7802575">
                  <a:extLst>
                    <a:ext uri="{9D8B030D-6E8A-4147-A177-3AD203B41FA5}">
                      <a16:colId xmlns:a16="http://schemas.microsoft.com/office/drawing/2014/main" val="20001"/>
                    </a:ext>
                  </a:extLst>
                </a:gridCol>
              </a:tblGrid>
              <a:tr h="436880">
                <a:tc>
                  <a:txBody>
                    <a:bodyPr/>
                    <a:lstStyle/>
                    <a:p>
                      <a:pPr>
                        <a:defRPr sz="1100" b="1">
                          <a:solidFill>
                            <a:srgbClr val="FFFFFF"/>
                          </a:solidFill>
                          <a:latin typeface="Consolas"/>
                        </a:defRPr>
                      </a:pPr>
                      <a:r>
                        <a:t>SYSTEM COMPONENT</a:t>
                      </a:r>
                    </a:p>
                  </a:txBody>
                  <a:tcPr>
                    <a:solidFill>
                      <a:srgbClr val="1B4332"/>
                    </a:solidFill>
                  </a:tcPr>
                </a:tc>
                <a:tc>
                  <a:txBody>
                    <a:bodyPr/>
                    <a:lstStyle/>
                    <a:p>
                      <a:pPr>
                        <a:defRPr sz="1100" b="1">
                          <a:solidFill>
                            <a:srgbClr val="FFFFFF"/>
                          </a:solidFill>
                          <a:latin typeface="Consolas"/>
                        </a:defRPr>
                      </a:pPr>
                      <a:r>
                        <a:t>TECHNOLOGY STACK &amp; IMPLEMENTATION DETAILS</a:t>
                      </a:r>
                    </a:p>
                  </a:txBody>
                  <a:tcPr>
                    <a:solidFill>
                      <a:srgbClr val="1B4332"/>
                    </a:solidFill>
                  </a:tcPr>
                </a:tc>
                <a:extLst>
                  <a:ext uri="{0D108BD9-81ED-4DB2-BD59-A6C34878D82A}">
                    <a16:rowId xmlns:a16="http://schemas.microsoft.com/office/drawing/2014/main" val="10000"/>
                  </a:ext>
                </a:extLst>
              </a:tr>
              <a:tr h="436880">
                <a:tc>
                  <a:txBody>
                    <a:bodyPr/>
                    <a:lstStyle/>
                    <a:p>
                      <a:pPr>
                        <a:defRPr sz="1000" b="1">
                          <a:solidFill>
                            <a:srgbClr val="1B4332"/>
                          </a:solidFill>
                          <a:latin typeface="Consolas"/>
                        </a:defRPr>
                      </a:pPr>
                      <a:r>
                        <a:t>Core Backend</a:t>
                      </a:r>
                    </a:p>
                  </a:txBody>
                  <a:tcPr>
                    <a:solidFill>
                      <a:srgbClr val="EAF1EE"/>
                    </a:solidFill>
                  </a:tcPr>
                </a:tc>
                <a:tc>
                  <a:txBody>
                    <a:bodyPr/>
                    <a:lstStyle/>
                    <a:p>
                      <a:pPr>
                        <a:defRPr sz="1000">
                          <a:solidFill>
                            <a:srgbClr val="0E1713"/>
                          </a:solidFill>
                          <a:latin typeface="Segoe UI"/>
                        </a:defRPr>
                      </a:pPr>
                      <a:r>
                        <a:t>Python 3.11+, FastAPI, Pydantic v2, Uvicorn, Alembic database migrations</a:t>
                      </a:r>
                    </a:p>
                  </a:txBody>
                  <a:tcPr>
                    <a:solidFill>
                      <a:srgbClr val="EAF1EE"/>
                    </a:solidFill>
                  </a:tcPr>
                </a:tc>
                <a:extLst>
                  <a:ext uri="{0D108BD9-81ED-4DB2-BD59-A6C34878D82A}">
                    <a16:rowId xmlns:a16="http://schemas.microsoft.com/office/drawing/2014/main" val="10001"/>
                  </a:ext>
                </a:extLst>
              </a:tr>
              <a:tr h="436880">
                <a:tc>
                  <a:txBody>
                    <a:bodyPr/>
                    <a:lstStyle/>
                    <a:p>
                      <a:pPr>
                        <a:defRPr sz="1000" b="1">
                          <a:solidFill>
                            <a:srgbClr val="1B4332"/>
                          </a:solidFill>
                          <a:latin typeface="Consolas"/>
                        </a:defRPr>
                      </a:pPr>
                      <a:r>
                        <a:t>Multi-Agent Orchestrator</a:t>
                      </a:r>
                    </a:p>
                  </a:txBody>
                  <a:tcPr>
                    <a:solidFill>
                      <a:srgbClr val="FFFFFF"/>
                    </a:solidFill>
                  </a:tcPr>
                </a:tc>
                <a:tc>
                  <a:txBody>
                    <a:bodyPr/>
                    <a:lstStyle/>
                    <a:p>
                      <a:pPr>
                        <a:defRPr sz="1000">
                          <a:solidFill>
                            <a:srgbClr val="0E1713"/>
                          </a:solidFill>
                          <a:latin typeface="Segoe UI"/>
                        </a:defRPr>
                      </a:pPr>
                      <a:r>
                        <a:t>LangGraph stateful workflow DAG, StateGraph checkpointer, resilient retries</a:t>
                      </a:r>
                    </a:p>
                  </a:txBody>
                  <a:tcPr>
                    <a:solidFill>
                      <a:srgbClr val="FFFFFF"/>
                    </a:solidFill>
                  </a:tcPr>
                </a:tc>
                <a:extLst>
                  <a:ext uri="{0D108BD9-81ED-4DB2-BD59-A6C34878D82A}">
                    <a16:rowId xmlns:a16="http://schemas.microsoft.com/office/drawing/2014/main" val="10002"/>
                  </a:ext>
                </a:extLst>
              </a:tr>
              <a:tr h="436880">
                <a:tc>
                  <a:txBody>
                    <a:bodyPr/>
                    <a:lstStyle/>
                    <a:p>
                      <a:pPr>
                        <a:defRPr sz="1000" b="1">
                          <a:solidFill>
                            <a:srgbClr val="1B4332"/>
                          </a:solidFill>
                          <a:latin typeface="Consolas"/>
                        </a:defRPr>
                      </a:pPr>
                      <a:r>
                        <a:t>Dual LLM Provider Layer</a:t>
                      </a:r>
                    </a:p>
                  </a:txBody>
                  <a:tcPr>
                    <a:solidFill>
                      <a:srgbClr val="EAF1EE"/>
                    </a:solidFill>
                  </a:tcPr>
                </a:tc>
                <a:tc>
                  <a:txBody>
                    <a:bodyPr/>
                    <a:lstStyle/>
                    <a:p>
                      <a:pPr>
                        <a:defRPr sz="1000">
                          <a:solidFill>
                            <a:srgbClr val="0E1713"/>
                          </a:solidFill>
                          <a:latin typeface="Segoe UI"/>
                        </a:defRPr>
                      </a:pPr>
                      <a:r>
                        <a:t>Featherless AI (Competition submission) &amp; OpenRouter (Development) via OpenAI API</a:t>
                      </a:r>
                    </a:p>
                  </a:txBody>
                  <a:tcPr>
                    <a:solidFill>
                      <a:srgbClr val="EAF1EE"/>
                    </a:solidFill>
                  </a:tcPr>
                </a:tc>
                <a:extLst>
                  <a:ext uri="{0D108BD9-81ED-4DB2-BD59-A6C34878D82A}">
                    <a16:rowId xmlns:a16="http://schemas.microsoft.com/office/drawing/2014/main" val="10003"/>
                  </a:ext>
                </a:extLst>
              </a:tr>
              <a:tr h="436880">
                <a:tc>
                  <a:txBody>
                    <a:bodyPr/>
                    <a:lstStyle/>
                    <a:p>
                      <a:pPr>
                        <a:defRPr sz="1000" b="1">
                          <a:solidFill>
                            <a:srgbClr val="1B4332"/>
                          </a:solidFill>
                          <a:latin typeface="Consolas"/>
                        </a:defRPr>
                      </a:pPr>
                      <a:r>
                        <a:t>Quantitative Engine</a:t>
                      </a:r>
                    </a:p>
                  </a:txBody>
                  <a:tcPr>
                    <a:solidFill>
                      <a:srgbClr val="FFFFFF"/>
                    </a:solidFill>
                  </a:tcPr>
                </a:tc>
                <a:tc>
                  <a:txBody>
                    <a:bodyPr/>
                    <a:lstStyle/>
                    <a:p>
                      <a:pPr>
                        <a:defRPr sz="1000">
                          <a:solidFill>
                            <a:srgbClr val="0E1713"/>
                          </a:solidFill>
                          <a:latin typeface="Segoe UI"/>
                        </a:defRPr>
                      </a:pPr>
                      <a:r>
                        <a:t>Black-Scholes analytical pricer, numerical Greek solvers, Cornish-Fisher VaR, Payoffs</a:t>
                      </a:r>
                    </a:p>
                  </a:txBody>
                  <a:tcPr>
                    <a:solidFill>
                      <a:srgbClr val="FFFFFF"/>
                    </a:solidFill>
                  </a:tcPr>
                </a:tc>
                <a:extLst>
                  <a:ext uri="{0D108BD9-81ED-4DB2-BD59-A6C34878D82A}">
                    <a16:rowId xmlns:a16="http://schemas.microsoft.com/office/drawing/2014/main" val="10004"/>
                  </a:ext>
                </a:extLst>
              </a:tr>
              <a:tr h="436880">
                <a:tc>
                  <a:txBody>
                    <a:bodyPr/>
                    <a:lstStyle/>
                    <a:p>
                      <a:pPr>
                        <a:defRPr sz="1000" b="1">
                          <a:solidFill>
                            <a:srgbClr val="1B4332"/>
                          </a:solidFill>
                          <a:latin typeface="Consolas"/>
                        </a:defRPr>
                      </a:pPr>
                      <a:r>
                        <a:t>Brokerage &amp; Market Data</a:t>
                      </a:r>
                    </a:p>
                  </a:txBody>
                  <a:tcPr>
                    <a:solidFill>
                      <a:srgbClr val="EAF1EE"/>
                    </a:solidFill>
                  </a:tcPr>
                </a:tc>
                <a:tc>
                  <a:txBody>
                    <a:bodyPr/>
                    <a:lstStyle/>
                    <a:p>
                      <a:pPr>
                        <a:defRPr sz="1000">
                          <a:solidFill>
                            <a:srgbClr val="0E1713"/>
                          </a:solidFill>
                          <a:latin typeface="Segoe UI"/>
                        </a:defRPr>
                      </a:pPr>
                      <a:r>
                        <a:t>Alpaca Trading API, Alpaca Options Chains, Multi-leg Orders, Alpaca MCP Tools</a:t>
                      </a:r>
                    </a:p>
                  </a:txBody>
                  <a:tcPr>
                    <a:solidFill>
                      <a:srgbClr val="EAF1EE"/>
                    </a:solidFill>
                  </a:tcPr>
                </a:tc>
                <a:extLst>
                  <a:ext uri="{0D108BD9-81ED-4DB2-BD59-A6C34878D82A}">
                    <a16:rowId xmlns:a16="http://schemas.microsoft.com/office/drawing/2014/main" val="10005"/>
                  </a:ext>
                </a:extLst>
              </a:tr>
              <a:tr h="436880">
                <a:tc>
                  <a:txBody>
                    <a:bodyPr/>
                    <a:lstStyle/>
                    <a:p>
                      <a:pPr>
                        <a:defRPr sz="1000" b="1">
                          <a:solidFill>
                            <a:srgbClr val="1B4332"/>
                          </a:solidFill>
                          <a:latin typeface="Consolas"/>
                        </a:defRPr>
                      </a:pPr>
                      <a:r>
                        <a:t>Database &amp; Persistence</a:t>
                      </a:r>
                    </a:p>
                  </a:txBody>
                  <a:tcPr>
                    <a:solidFill>
                      <a:srgbClr val="FFFFFF"/>
                    </a:solidFill>
                  </a:tcPr>
                </a:tc>
                <a:tc>
                  <a:txBody>
                    <a:bodyPr/>
                    <a:lstStyle/>
                    <a:p>
                      <a:pPr>
                        <a:defRPr sz="1000">
                          <a:solidFill>
                            <a:srgbClr val="0E1713"/>
                          </a:solidFill>
                          <a:latin typeface="Segoe UI"/>
                        </a:defRPr>
                      </a:pPr>
                      <a:r>
                        <a:t>PostgreSQL (Neon serverless pooled &amp; unpooled DSN) storing runs, orders, &amp; states</a:t>
                      </a:r>
                    </a:p>
                  </a:txBody>
                  <a:tcPr>
                    <a:solidFill>
                      <a:srgbClr val="FFFFFF"/>
                    </a:solidFill>
                  </a:tcPr>
                </a:tc>
                <a:extLst>
                  <a:ext uri="{0D108BD9-81ED-4DB2-BD59-A6C34878D82A}">
                    <a16:rowId xmlns:a16="http://schemas.microsoft.com/office/drawing/2014/main" val="10006"/>
                  </a:ext>
                </a:extLst>
              </a:tr>
              <a:tr h="436880">
                <a:tc>
                  <a:txBody>
                    <a:bodyPr/>
                    <a:lstStyle/>
                    <a:p>
                      <a:pPr>
                        <a:defRPr sz="1000" b="1">
                          <a:solidFill>
                            <a:srgbClr val="1B4332"/>
                          </a:solidFill>
                          <a:latin typeface="Consolas"/>
                        </a:defRPr>
                      </a:pPr>
                      <a:r>
                        <a:t>Frontend Application</a:t>
                      </a:r>
                    </a:p>
                  </a:txBody>
                  <a:tcPr>
                    <a:solidFill>
                      <a:srgbClr val="EAF1EE"/>
                    </a:solidFill>
                  </a:tcPr>
                </a:tc>
                <a:tc>
                  <a:txBody>
                    <a:bodyPr/>
                    <a:lstStyle/>
                    <a:p>
                      <a:pPr>
                        <a:defRPr sz="1000">
                          <a:solidFill>
                            <a:srgbClr val="0E1713"/>
                          </a:solidFill>
                          <a:latin typeface="Segoe UI"/>
                        </a:defRPr>
                      </a:pPr>
                      <a:r>
                        <a:t>React 18, TypeScript, Tailwind CSS, Vite, Recharts, Lucide Icons</a:t>
                      </a:r>
                    </a:p>
                  </a:txBody>
                  <a:tcPr>
                    <a:solidFill>
                      <a:srgbClr val="EAF1EE"/>
                    </a:solidFill>
                  </a:tcPr>
                </a:tc>
                <a:extLst>
                  <a:ext uri="{0D108BD9-81ED-4DB2-BD59-A6C34878D82A}">
                    <a16:rowId xmlns:a16="http://schemas.microsoft.com/office/drawing/2014/main" val="10007"/>
                  </a:ext>
                </a:extLst>
              </a:tr>
              <a:tr h="436880">
                <a:tc>
                  <a:txBody>
                    <a:bodyPr/>
                    <a:lstStyle/>
                    <a:p>
                      <a:pPr>
                        <a:defRPr sz="1000" b="1">
                          <a:solidFill>
                            <a:srgbClr val="1B4332"/>
                          </a:solidFill>
                          <a:latin typeface="Consolas"/>
                        </a:defRPr>
                      </a:pPr>
                      <a:r>
                        <a:t>DevOps &amp; Testing Suite</a:t>
                      </a:r>
                    </a:p>
                  </a:txBody>
                  <a:tcPr>
                    <a:solidFill>
                      <a:srgbClr val="FFFFFF"/>
                    </a:solidFill>
                  </a:tcPr>
                </a:tc>
                <a:tc>
                  <a:txBody>
                    <a:bodyPr/>
                    <a:lstStyle/>
                    <a:p>
                      <a:pPr>
                        <a:defRPr sz="1000">
                          <a:solidFill>
                            <a:srgbClr val="0E1713"/>
                          </a:solidFill>
                          <a:latin typeface="Segoe UI"/>
                        </a:defRPr>
                      </a:pPr>
                      <a:r>
                        <a:t>Docker containerization, Makefile targets, pytest (unit/integration/smoke), CI GitHub Actions</a:t>
                      </a:r>
                    </a:p>
                  </a:txBody>
                  <a:tcPr>
                    <a:solidFill>
                      <a:srgbClr val="FFFFFF"/>
                    </a:solidFill>
                  </a:tcPr>
                </a:tc>
                <a:extLst>
                  <a:ext uri="{0D108BD9-81ED-4DB2-BD59-A6C34878D82A}">
                    <a16:rowId xmlns:a16="http://schemas.microsoft.com/office/drawing/2014/main" val="10008"/>
                  </a:ext>
                </a:extLst>
              </a:tr>
            </a:tbl>
          </a:graphicData>
        </a:graphic>
      </p:graphicFrame>
      <p:sp>
        <p:nvSpPr>
          <p:cNvPr id="8" name="Rectangle 7"/>
          <p:cNvSpPr/>
          <p:nvPr/>
        </p:nvSpPr>
        <p:spPr>
          <a:xfrm>
            <a:off x="731520" y="5852160"/>
            <a:ext cx="10728655" cy="594360"/>
          </a:xfrm>
          <a:prstGeom prst="rect">
            <a:avLst/>
          </a:prstGeom>
          <a:solidFill>
            <a:srgbClr val="0F271D"/>
          </a:solidFill>
          <a:ln w="12700">
            <a:solidFill>
              <a:srgbClr val="CCD8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5897880"/>
            <a:ext cx="10332720" cy="502920"/>
          </a:xfrm>
          <a:prstGeom prst="rect">
            <a:avLst/>
          </a:prstGeom>
          <a:noFill/>
        </p:spPr>
        <p:txBody>
          <a:bodyPr wrap="square">
            <a:spAutoFit/>
          </a:bodyPr>
          <a:lstStyle/>
          <a:p>
            <a:pPr>
              <a:defRPr sz="1000" b="1">
                <a:solidFill>
                  <a:srgbClr val="D4AF67"/>
                </a:solidFill>
                <a:latin typeface="Consolas"/>
              </a:defRPr>
            </a:pPr>
            <a:r>
              <a:t>ENGINEERING RIGOR: 100% type-checked with mypy/ruff, 8-phase verified test suites, full OpenAPI 3.1 contract compliance.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5"/>
          </a:solidFill>
          <a:ln>
            <a:solidFill>
              <a:srgbClr val="F4F7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65760"/>
            <a:ext cx="10728655" cy="36576"/>
          </a:xfrm>
          <a:prstGeom prst="rect">
            <a:avLst/>
          </a:prstGeom>
          <a:solidFill>
            <a:srgbClr val="A67C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502920"/>
            <a:ext cx="7315200" cy="320040"/>
          </a:xfrm>
          <a:prstGeom prst="rect">
            <a:avLst/>
          </a:prstGeom>
          <a:noFill/>
        </p:spPr>
        <p:txBody>
          <a:bodyPr wrap="square" lIns="0" tIns="0" rIns="0" bIns="0">
            <a:spAutoFit/>
          </a:bodyPr>
          <a:lstStyle/>
          <a:p>
            <a:pPr>
              <a:defRPr sz="1000" b="1">
                <a:solidFill>
                  <a:srgbClr val="A67C37"/>
                </a:solidFill>
                <a:latin typeface="Consolas"/>
              </a:defRPr>
            </a:pPr>
            <a:r>
              <a:t>CONCLUSION &amp; IMPACT</a:t>
            </a:r>
          </a:p>
        </p:txBody>
      </p:sp>
      <p:sp>
        <p:nvSpPr>
          <p:cNvPr id="5" name="TextBox 4"/>
          <p:cNvSpPr txBox="1"/>
          <p:nvPr/>
        </p:nvSpPr>
        <p:spPr>
          <a:xfrm>
            <a:off x="731520" y="777240"/>
            <a:ext cx="9144000" cy="594360"/>
          </a:xfrm>
          <a:prstGeom prst="rect">
            <a:avLst/>
          </a:prstGeom>
          <a:noFill/>
        </p:spPr>
        <p:txBody>
          <a:bodyPr wrap="square" lIns="0" tIns="0" rIns="0" bIns="0">
            <a:spAutoFit/>
          </a:bodyPr>
          <a:lstStyle/>
          <a:p>
            <a:pPr>
              <a:defRPr sz="2400" b="1">
                <a:solidFill>
                  <a:srgbClr val="1B4332"/>
                </a:solidFill>
                <a:latin typeface="Georgia"/>
              </a:defRPr>
            </a:pPr>
            <a:r>
              <a:t>Judging Criteria Alignment &amp; Commercial Roadmap</a:t>
            </a:r>
          </a:p>
        </p:txBody>
      </p:sp>
      <p:sp>
        <p:nvSpPr>
          <p:cNvPr id="6" name="TextBox 5"/>
          <p:cNvSpPr txBox="1"/>
          <p:nvPr/>
        </p:nvSpPr>
        <p:spPr>
          <a:xfrm>
            <a:off x="731520" y="1353312"/>
            <a:ext cx="10698480" cy="320040"/>
          </a:xfrm>
          <a:prstGeom prst="rect">
            <a:avLst/>
          </a:prstGeom>
          <a:noFill/>
        </p:spPr>
        <p:txBody>
          <a:bodyPr wrap="square" lIns="0" tIns="0" rIns="0" bIns="0">
            <a:spAutoFit/>
          </a:bodyPr>
          <a:lstStyle/>
          <a:p>
            <a:pPr>
              <a:defRPr sz="1200">
                <a:solidFill>
                  <a:srgbClr val="52665C"/>
                </a:solidFill>
                <a:latin typeface="Segoe UI"/>
              </a:defRPr>
            </a:pPr>
            <a:r>
              <a:t>How AEGIS hits every evaluation criterion and scales into a commercial private wealth product.</a:t>
            </a:r>
          </a:p>
        </p:txBody>
      </p:sp>
      <p:sp>
        <p:nvSpPr>
          <p:cNvPr id="7" name="Rectangle 6"/>
          <p:cNvSpPr/>
          <p:nvPr/>
        </p:nvSpPr>
        <p:spPr>
          <a:xfrm>
            <a:off x="731520" y="1783080"/>
            <a:ext cx="2450592" cy="2926080"/>
          </a:xfrm>
          <a:prstGeom prst="rect">
            <a:avLst/>
          </a:prstGeom>
          <a:solidFill>
            <a:srgbClr val="FFFFFF"/>
          </a:solidFill>
          <a:ln w="12700">
            <a:solidFill>
              <a:srgbClr val="CCD8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783080"/>
            <a:ext cx="2450592" cy="36576"/>
          </a:xfrm>
          <a:prstGeom prst="rect">
            <a:avLst/>
          </a:prstGeom>
          <a:solidFill>
            <a:srgbClr val="1B4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1920240"/>
            <a:ext cx="2176272" cy="2651760"/>
          </a:xfrm>
          <a:prstGeom prst="rect">
            <a:avLst/>
          </a:prstGeom>
          <a:noFill/>
        </p:spPr>
        <p:txBody>
          <a:bodyPr wrap="square" lIns="0" tIns="0" rIns="0" bIns="0">
            <a:spAutoFit/>
          </a:bodyPr>
          <a:lstStyle/>
          <a:p>
            <a:pPr>
              <a:defRPr sz="1100" b="1">
                <a:solidFill>
                  <a:srgbClr val="1B4332"/>
                </a:solidFill>
                <a:latin typeface="Consolas"/>
              </a:defRPr>
            </a:pPr>
            <a:r>
              <a:t>1. ALPACA INTEGRATION</a:t>
            </a:r>
          </a:p>
          <a:p>
            <a:pPr>
              <a:spcBef>
                <a:spcPts val="300"/>
              </a:spcBef>
              <a:defRPr sz="1300" b="1">
                <a:solidFill>
                  <a:srgbClr val="1B4332"/>
                </a:solidFill>
                <a:latin typeface="Georgia"/>
              </a:defRPr>
            </a:pPr>
            <a:r>
              <a:t>Deep Platform Utilization</a:t>
            </a:r>
          </a:p>
          <a:p>
            <a:pPr>
              <a:spcBef>
                <a:spcPts val="400"/>
              </a:spcBef>
              <a:defRPr sz="1000">
                <a:solidFill>
                  <a:srgbClr val="0E1713"/>
                </a:solidFill>
                <a:latin typeface="Segoe UI"/>
              </a:defRPr>
            </a:pPr>
            <a:r>
              <a:t>✓ Live Paper Trading Brokerage Account</a:t>
            </a:r>
          </a:p>
          <a:p>
            <a:pPr>
              <a:spcBef>
                <a:spcPts val="400"/>
              </a:spcBef>
              <a:defRPr sz="1000">
                <a:solidFill>
                  <a:srgbClr val="0E1713"/>
                </a:solidFill>
                <a:latin typeface="Segoe UI"/>
              </a:defRPr>
            </a:pPr>
            <a:r>
              <a:t>✓ Real-time Options Chain Discovery</a:t>
            </a:r>
          </a:p>
          <a:p>
            <a:pPr>
              <a:spcBef>
                <a:spcPts val="400"/>
              </a:spcBef>
              <a:defRPr sz="1000">
                <a:solidFill>
                  <a:srgbClr val="0E1713"/>
                </a:solidFill>
                <a:latin typeface="Segoe UI"/>
              </a:defRPr>
            </a:pPr>
            <a:r>
              <a:t>✓ Native Multi-Leg Execution (Spreads/Collars)</a:t>
            </a:r>
          </a:p>
          <a:p>
            <a:pPr>
              <a:spcBef>
                <a:spcPts val="400"/>
              </a:spcBef>
              <a:defRPr sz="1000">
                <a:solidFill>
                  <a:srgbClr val="0E1713"/>
                </a:solidFill>
                <a:latin typeface="Segoe UI"/>
              </a:defRPr>
            </a:pPr>
            <a:r>
              <a:t>✓ Full Alpaca MCP Tool Calling Protocol</a:t>
            </a:r>
          </a:p>
        </p:txBody>
      </p:sp>
      <p:sp>
        <p:nvSpPr>
          <p:cNvPr id="10" name="Rectangle 9"/>
          <p:cNvSpPr/>
          <p:nvPr/>
        </p:nvSpPr>
        <p:spPr>
          <a:xfrm>
            <a:off x="3483864" y="1783080"/>
            <a:ext cx="2450592" cy="2926080"/>
          </a:xfrm>
          <a:prstGeom prst="rect">
            <a:avLst/>
          </a:prstGeom>
          <a:solidFill>
            <a:srgbClr val="FFFFFF"/>
          </a:solidFill>
          <a:ln w="12700">
            <a:solidFill>
              <a:srgbClr val="CCD8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483864" y="1783080"/>
            <a:ext cx="2450592" cy="36576"/>
          </a:xfrm>
          <a:prstGeom prst="rect">
            <a:avLst/>
          </a:prstGeom>
          <a:solidFill>
            <a:srgbClr val="A67C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21024" y="1920240"/>
            <a:ext cx="2176272" cy="2651760"/>
          </a:xfrm>
          <a:prstGeom prst="rect">
            <a:avLst/>
          </a:prstGeom>
          <a:noFill/>
        </p:spPr>
        <p:txBody>
          <a:bodyPr wrap="square" lIns="0" tIns="0" rIns="0" bIns="0">
            <a:spAutoFit/>
          </a:bodyPr>
          <a:lstStyle/>
          <a:p>
            <a:pPr>
              <a:defRPr sz="1100" b="1">
                <a:solidFill>
                  <a:srgbClr val="A67C37"/>
                </a:solidFill>
                <a:latin typeface="Consolas"/>
              </a:defRPr>
            </a:pPr>
            <a:r>
              <a:t>2. P&amp;L &amp; RISK PERFORMANCE</a:t>
            </a:r>
          </a:p>
          <a:p>
            <a:pPr>
              <a:spcBef>
                <a:spcPts val="300"/>
              </a:spcBef>
              <a:defRPr sz="1300" b="1">
                <a:solidFill>
                  <a:srgbClr val="1B4332"/>
                </a:solidFill>
                <a:latin typeface="Georgia"/>
              </a:defRPr>
            </a:pPr>
            <a:r>
              <a:t>Quantitative Downside Cushioning</a:t>
            </a:r>
          </a:p>
          <a:p>
            <a:pPr>
              <a:spcBef>
                <a:spcPts val="400"/>
              </a:spcBef>
              <a:defRPr sz="1000">
                <a:solidFill>
                  <a:srgbClr val="0E1713"/>
                </a:solidFill>
                <a:latin typeface="Segoe UI"/>
              </a:defRPr>
            </a:pPr>
            <a:r>
              <a:t>✓ Verified Drawdown Reduction during shocks</a:t>
            </a:r>
          </a:p>
          <a:p>
            <a:pPr>
              <a:spcBef>
                <a:spcPts val="400"/>
              </a:spcBef>
              <a:defRPr sz="1000">
                <a:solidFill>
                  <a:srgbClr val="0E1713"/>
                </a:solidFill>
                <a:latin typeface="Segoe UI"/>
              </a:defRPr>
            </a:pPr>
            <a:r>
              <a:t>✓ Eliminates Theta Drag via Spread funding</a:t>
            </a:r>
          </a:p>
          <a:p>
            <a:pPr>
              <a:spcBef>
                <a:spcPts val="400"/>
              </a:spcBef>
              <a:defRPr sz="1000">
                <a:solidFill>
                  <a:srgbClr val="0E1713"/>
                </a:solidFill>
                <a:latin typeface="Segoe UI"/>
              </a:defRPr>
            </a:pPr>
            <a:r>
              <a:t>✓ Maintains upside participation during recoveries</a:t>
            </a:r>
          </a:p>
          <a:p>
            <a:pPr>
              <a:spcBef>
                <a:spcPts val="400"/>
              </a:spcBef>
              <a:defRPr sz="1000">
                <a:solidFill>
                  <a:srgbClr val="0E1713"/>
                </a:solidFill>
                <a:latin typeface="Segoe UI"/>
              </a:defRPr>
            </a:pPr>
            <a:r>
              <a:t>✓ Net P&amp;L tracking vs unhedged benchmarks</a:t>
            </a:r>
          </a:p>
        </p:txBody>
      </p:sp>
      <p:sp>
        <p:nvSpPr>
          <p:cNvPr id="13" name="Rectangle 12"/>
          <p:cNvSpPr/>
          <p:nvPr/>
        </p:nvSpPr>
        <p:spPr>
          <a:xfrm>
            <a:off x="6236208" y="1783080"/>
            <a:ext cx="2450592" cy="2926080"/>
          </a:xfrm>
          <a:prstGeom prst="rect">
            <a:avLst/>
          </a:prstGeom>
          <a:solidFill>
            <a:srgbClr val="FFFFFF"/>
          </a:solidFill>
          <a:ln w="12700">
            <a:solidFill>
              <a:srgbClr val="CCD8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236208" y="1783080"/>
            <a:ext cx="2450592" cy="3657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73368" y="1920240"/>
            <a:ext cx="2176272" cy="2651760"/>
          </a:xfrm>
          <a:prstGeom prst="rect">
            <a:avLst/>
          </a:prstGeom>
          <a:noFill/>
        </p:spPr>
        <p:txBody>
          <a:bodyPr wrap="square" lIns="0" tIns="0" rIns="0" bIns="0">
            <a:spAutoFit/>
          </a:bodyPr>
          <a:lstStyle/>
          <a:p>
            <a:pPr>
              <a:defRPr sz="1100" b="1">
                <a:solidFill>
                  <a:srgbClr val="0D9488"/>
                </a:solidFill>
                <a:latin typeface="Consolas"/>
              </a:defRPr>
            </a:pPr>
            <a:r>
              <a:t>3. CREATIVITY &amp; NOVELTY</a:t>
            </a:r>
          </a:p>
          <a:p>
            <a:pPr>
              <a:spcBef>
                <a:spcPts val="300"/>
              </a:spcBef>
              <a:defRPr sz="1300" b="1">
                <a:solidFill>
                  <a:srgbClr val="1B4332"/>
                </a:solidFill>
                <a:latin typeface="Georgia"/>
              </a:defRPr>
            </a:pPr>
            <a:r>
              <a:t>Breakthrough Agentic Architecture</a:t>
            </a:r>
          </a:p>
          <a:p>
            <a:pPr>
              <a:spcBef>
                <a:spcPts val="400"/>
              </a:spcBef>
              <a:defRPr sz="1000">
                <a:solidFill>
                  <a:srgbClr val="0E1713"/>
                </a:solidFill>
                <a:latin typeface="Segoe UI"/>
              </a:defRPr>
            </a:pPr>
            <a:r>
              <a:t>✓ First closed-loop adaptive de-hedging agent</a:t>
            </a:r>
          </a:p>
          <a:p>
            <a:pPr>
              <a:spcBef>
                <a:spcPts val="400"/>
              </a:spcBef>
              <a:defRPr sz="1000">
                <a:solidFill>
                  <a:srgbClr val="0E1713"/>
                </a:solidFill>
                <a:latin typeface="Segoe UI"/>
              </a:defRPr>
            </a:pPr>
            <a:r>
              <a:t>✓ 4-Strategy autonomous competition arena</a:t>
            </a:r>
          </a:p>
          <a:p>
            <a:pPr>
              <a:spcBef>
                <a:spcPts val="400"/>
              </a:spcBef>
              <a:defRPr sz="1000">
                <a:solidFill>
                  <a:srgbClr val="0E1713"/>
                </a:solidFill>
                <a:latin typeface="Segoe UI"/>
              </a:defRPr>
            </a:pPr>
            <a:r>
              <a:t>✓ Strict separation of LLM reasoning vs math</a:t>
            </a:r>
          </a:p>
          <a:p>
            <a:pPr>
              <a:spcBef>
                <a:spcPts val="400"/>
              </a:spcBef>
              <a:defRPr sz="1000">
                <a:solidFill>
                  <a:srgbClr val="0E1713"/>
                </a:solidFill>
                <a:latin typeface="Segoe UI"/>
              </a:defRPr>
            </a:pPr>
            <a:r>
              <a:t>✓ Auditable multi-step decision trails</a:t>
            </a:r>
          </a:p>
        </p:txBody>
      </p:sp>
      <p:sp>
        <p:nvSpPr>
          <p:cNvPr id="16" name="Rectangle 15"/>
          <p:cNvSpPr/>
          <p:nvPr/>
        </p:nvSpPr>
        <p:spPr>
          <a:xfrm>
            <a:off x="8988552" y="1783080"/>
            <a:ext cx="2450592" cy="2926080"/>
          </a:xfrm>
          <a:prstGeom prst="rect">
            <a:avLst/>
          </a:prstGeom>
          <a:solidFill>
            <a:srgbClr val="FFFFFF"/>
          </a:solidFill>
          <a:ln w="12700">
            <a:solidFill>
              <a:srgbClr val="CCD8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988552" y="1783080"/>
            <a:ext cx="2450592" cy="36576"/>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25712" y="1920240"/>
            <a:ext cx="2176272" cy="2651760"/>
          </a:xfrm>
          <a:prstGeom prst="rect">
            <a:avLst/>
          </a:prstGeom>
          <a:noFill/>
        </p:spPr>
        <p:txBody>
          <a:bodyPr wrap="square" lIns="0" tIns="0" rIns="0" bIns="0">
            <a:spAutoFit/>
          </a:bodyPr>
          <a:lstStyle/>
          <a:p>
            <a:pPr>
              <a:defRPr sz="1100" b="1">
                <a:solidFill>
                  <a:srgbClr val="15803D"/>
                </a:solidFill>
                <a:latin typeface="Consolas"/>
              </a:defRPr>
            </a:pPr>
            <a:r>
              <a:t>4. EXECUTION &amp; RELIABILITY</a:t>
            </a:r>
          </a:p>
          <a:p>
            <a:pPr>
              <a:spcBef>
                <a:spcPts val="300"/>
              </a:spcBef>
              <a:defRPr sz="1300" b="1">
                <a:solidFill>
                  <a:srgbClr val="1B4332"/>
                </a:solidFill>
                <a:latin typeface="Georgia"/>
              </a:defRPr>
            </a:pPr>
            <a:r>
              <a:t>Institutional Engineering</a:t>
            </a:r>
          </a:p>
          <a:p>
            <a:pPr>
              <a:spcBef>
                <a:spcPts val="400"/>
              </a:spcBef>
              <a:defRPr sz="1000">
                <a:solidFill>
                  <a:srgbClr val="0E1713"/>
                </a:solidFill>
                <a:latin typeface="Segoe UI"/>
              </a:defRPr>
            </a:pPr>
            <a:r>
              <a:t>✓ Full 8-phase test verification suite</a:t>
            </a:r>
          </a:p>
          <a:p>
            <a:pPr>
              <a:spcBef>
                <a:spcPts val="400"/>
              </a:spcBef>
              <a:defRPr sz="1000">
                <a:solidFill>
                  <a:srgbClr val="0E1713"/>
                </a:solidFill>
                <a:latin typeface="Segoe UI"/>
              </a:defRPr>
            </a:pPr>
            <a:r>
              <a:t>✓ Deterministic demo replay script</a:t>
            </a:r>
          </a:p>
          <a:p>
            <a:pPr>
              <a:spcBef>
                <a:spcPts val="400"/>
              </a:spcBef>
              <a:defRPr sz="1000">
                <a:solidFill>
                  <a:srgbClr val="0E1713"/>
                </a:solidFill>
                <a:latin typeface="Segoe UI"/>
              </a:defRPr>
            </a:pPr>
            <a:r>
              <a:t>✓ FT Luxury Editorial UI design system</a:t>
            </a:r>
          </a:p>
          <a:p>
            <a:pPr>
              <a:spcBef>
                <a:spcPts val="400"/>
              </a:spcBef>
              <a:defRPr sz="1000">
                <a:solidFill>
                  <a:srgbClr val="0E1713"/>
                </a:solidFill>
                <a:latin typeface="Segoe UI"/>
              </a:defRPr>
            </a:pPr>
            <a:r>
              <a:t>✓ Self-contained Docker &amp; Make workflows</a:t>
            </a:r>
          </a:p>
        </p:txBody>
      </p:sp>
      <p:sp>
        <p:nvSpPr>
          <p:cNvPr id="19" name="Rectangle 18"/>
          <p:cNvSpPr/>
          <p:nvPr/>
        </p:nvSpPr>
        <p:spPr>
          <a:xfrm>
            <a:off x="731520" y="4892040"/>
            <a:ext cx="10728655" cy="1554480"/>
          </a:xfrm>
          <a:prstGeom prst="rect">
            <a:avLst/>
          </a:prstGeom>
          <a:solidFill>
            <a:srgbClr val="FFFFFF"/>
          </a:solidFill>
          <a:ln w="12700">
            <a:solidFill>
              <a:srgbClr val="CCD8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31520" y="4892040"/>
            <a:ext cx="10728655" cy="36576"/>
          </a:xfrm>
          <a:prstGeom prst="rect">
            <a:avLst/>
          </a:prstGeom>
          <a:solidFill>
            <a:srgbClr val="A67C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4400" y="4983480"/>
            <a:ext cx="10332720" cy="1371600"/>
          </a:xfrm>
          <a:prstGeom prst="rect">
            <a:avLst/>
          </a:prstGeom>
          <a:noFill/>
        </p:spPr>
        <p:txBody>
          <a:bodyPr wrap="square" lIns="0" tIns="0" rIns="0" bIns="0">
            <a:spAutoFit/>
          </a:bodyPr>
          <a:lstStyle/>
          <a:p>
            <a:pPr>
              <a:defRPr sz="1100" b="1">
                <a:solidFill>
                  <a:srgbClr val="A67C37"/>
                </a:solidFill>
                <a:latin typeface="Consolas"/>
              </a:defRPr>
            </a:pPr>
            <a:r>
              <a:t>COMMERCIAL ROADMAP: SCALING FROM HACKATHON TO INSTITUTIONAL SAAS</a:t>
            </a:r>
          </a:p>
          <a:p>
            <a:pPr>
              <a:spcBef>
                <a:spcPts val="400"/>
              </a:spcBef>
              <a:defRPr sz="1000">
                <a:solidFill>
                  <a:srgbClr val="0E1713"/>
                </a:solidFill>
                <a:latin typeface="Segoe UI"/>
              </a:defRPr>
            </a:pPr>
            <a:r>
              <a:t>▶ Phase 1: Multi-User Wealth Portals: OAuth2 login, encrypted Alpaca user key vaults, role-based portfolio access for RIAs.</a:t>
            </a:r>
          </a:p>
          <a:p>
            <a:pPr>
              <a:spcBef>
                <a:spcPts val="400"/>
              </a:spcBef>
              <a:defRPr sz="1000">
                <a:solidFill>
                  <a:srgbClr val="0E1713"/>
                </a:solidFill>
                <a:latin typeface="Segoe UI"/>
              </a:defRPr>
            </a:pPr>
            <a:r>
              <a:t>▶ Phase 2: Advanced Derivative Overlays: Tier-B options strategies: VIX Call Calendar spreads, Ratio backspreads, synthetic long collars.</a:t>
            </a:r>
          </a:p>
          <a:p>
            <a:pPr>
              <a:spcBef>
                <a:spcPts val="400"/>
              </a:spcBef>
              <a:defRPr sz="1000">
                <a:solidFill>
                  <a:srgbClr val="0E1713"/>
                </a:solidFill>
                <a:latin typeface="Segoe UI"/>
              </a:defRPr>
            </a:pPr>
            <a:r>
              <a:t>▶ Phase 3: Tax-Loss Harvesting Engine: Combining adaptive options hedging with intelligent tax-lot harvesting across taxable equity portfolios.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TotalTime>
  <Words>3231</Words>
  <Application>Microsoft Office PowerPoint</Application>
  <PresentationFormat>Widescreen</PresentationFormat>
  <Paragraphs>297</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Riwano Fariz</cp:lastModifiedBy>
  <cp:revision>2</cp:revision>
  <dcterms:created xsi:type="dcterms:W3CDTF">2013-01-27T09:14:16Z</dcterms:created>
  <dcterms:modified xsi:type="dcterms:W3CDTF">2026-09-04T13:41:56Z</dcterms:modified>
  <cp:category/>
</cp:coreProperties>
</file>